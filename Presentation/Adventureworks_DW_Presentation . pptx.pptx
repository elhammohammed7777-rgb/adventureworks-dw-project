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3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35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being here. My name is Elham Mohammed, presenting on behalf of Group 2. Over the next few minutes we'll walk you through our final project: a sales performance analytics solution built for AdventureWorks Cycles, a global bicycle manufacturer and retailer. We took AdventureWorks' raw operational data and turned it into a governed, self-service Power BI dashboard that lets every department answer their own questions in seconds, without waiting on a data analyst. We'll start with the business problem, walk through the data warehouse behind the scenes, and finish with the dashboard and the insights it surfaces. Let's begin with why this project exists.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AdventureWorks Cycles is a global manufacturer and retailer of bicycles, components, and accessories, selling through direct online orders and reseller stores across Europe, North America, and the Pacific. As the business grew across regions and channels, a simple question like 'which products are winning?' became surprisingly hard to answer. The data existed, but it lived in disconnected transactional tables not built for reporting, and every request meant pulling an analyst off other work. Our objective was to build a governed, self-service Power BI dashboard on top of a proper data warehouse, so every department gets trusted answers instantly, without exposing sensitive data like full credit card numbers along the way.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scenario handed us fifteen specific questions, but rather than answering them one by one, we grouped them into six themes that map directly to how the dashboard is organized. Sales Performance covers revenue and growth trends. Customer Analysis looks at who's buying and how valuable they are. Product Analysis identifies which products deserve investment. Territory Analysis compares performance across our three regions. Sales Channels contrasts online orders against reseller and store sales. Shipping and Payment looks at fulfillment efficiency. Grouping the questions this way gave us a clean structure for the star schema, and gave each stakeholder a dashboard page built for their job.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follows the medallion pattern: bronze, silver, gold. We start with the AdventureWorks2022 source database, a live transactional system. The Bronze layer is a raw, untouched copy of that data, so we always have an unmodified reference point. The Silver layer is where cleaning happens: standardizing text, resolving missing values, removing invalid records. The Gold layer reshapes that clean data into a star schema, purpose-built for analytics. Power BI connects only to the Gold layer, which means every report is built on the same trusted data, and sensitive fields like credit card numbers are masked before they ever reach a report.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out, this is the actual workflow we followed end to end. Everything runs on SQL Server, hosting the Bronze, Silver, and Gold schemas inside one warehouse database. The ETL process moves data through those layers in stages, using T-SQL scripts run in sequence. Before any cleaning, we ran a full data profiling pass, so every cleaning decision was based on evidence, not guesswork. Data Cleaning then applied fixes only where profiling found a problem. Data Modeling reshaped the clean data into a star schema. Finally, Power BI connects to that model to deliver the dashboard. We'll walk through profiling and cleaning next.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touching a single row, we ran six categories of validation tests across all fourteen source tables: duplicate keys, invalid numeric values, date logic errors, missing values, inconsistent categorical text, and broken foreign-key relationships. The results were reassuring: zero duplicate keys, zero negative prices or costs, zero date sequence errors, and zero orphaned foreign keys anywhere. The one real finding was 248 products missing a Color value. We investigated rather than assumed, these were mostly bicycle components like bearings and chain parts, where color genuinely doesn't apply. Since Color is optional, we retained those records and standardized the missing value in Silver.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cleaning rule in the Silver layer traces back to a profiling finding, nothing was cleaned 'just in case.' Text fields were trimmed and standardized in casing. Missing Color became 'N/A,' and missing City, PostalCode, or name fields became 'UNKNOWN', visible, honest placeholders rather than silent blanks. Any negative StandardCost or ListPrice was guarded to zero, and order lines with impossible dates were excluded, with check constraints acting as a safety net going forward. The full SQL logic is documented in our technical report; the outcome is fourteen clean, consistently-typed Silver tables the Gold layer can build on with confidence.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 layer is where we shift from a normalized, transaction-friendly design to a denormalized, analysis-friendly one: a star schema. At the center sits FactSales, one row per order line item, holding the measures we aggregate. Around it sit six dimension tables: Product, Customer, Geography, Ship Method, Credit Card, and Date, each answering a who, what, where, or when question about that sale. We deliberately flattened hierarchies normalized across multiple source tables. That means Power BI needs far fewer joins to answer a question, and every measure can be sliced by any dimension through one predictable relationship: simpler joins, faster queries, a model business users can understand.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top of the Gold views, the Power BI model adds what SQL views alone can't give us. Every dimension connects to FactSales through a single-direction, one-to-many relationship, keeping the model predictable. We built DimDate as a physical table spanning 2010 through 2025, so we get proper time intelligence without extra complexity. DAX measures calculate the KPIs on the next slides: totals, averages, and growth percentages calculated on demand. Finally, we chose Import Mode over DirectQuery. Import compresses data into memory, making every visual fast and responsive, and lets DAX time-intelligence functions work properly without added query latency on every click.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five pages, each designed around a specific stakeholder from the business scenario, not around a table in the data model. The Executive Overview gives leadership a ten-second pulse check. Product Performance helps the merchandising team decide what to invest in or discontinue. Regional Performance lets regional managers compare territories and payment mix. Sales Channels and Fulfillment gives operations a view into channel performance and shipping efficiency. Customer Insights gives marketing what they need to identify top spenders and target retention campaigns. Same underlying Gold-layer model throughout, five different lenses on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metrics are what every stakeholder checks first, and they're the headline tiles on our Executive Overview page. Total Sales and Total Orders show overall business health and volume. Total Customers shows the size of our active base. Average Order Value and Revenue per Customer show how valuable each transaction and relationship is. Quantity Sold gives a unit-level view of demand. Monthly and Yearly Growth turn all of the above into a trend, not just a snapshot. The figures here are placeholders; in the live dashboard each one is a DAX measure that updates the moment the data refreshes.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intentionally templated, we're showing the shape of the insight, not fabricating numbers that don't reflect the actual refreshed dashboard. In the live version, this slide names the leading and lagging territory by sales, identifies which product category drives the largest share of revenue, and quantifies how much of total orders come through the online channel versus resellers. It also surfaces a concentration insight, what share of revenue comes from our top customers, and calls out which shipping method delivers the best cost-to-service ratio. We'll fill in the bracketed values with our actual dashboard figures during the live walkthrough.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challenges shaped most of our design decisions. AdventureWorks2022 is a large, fully normalized OLTP database, so an early task was scoping down to only what a sales dashboard needs. There was no existing warehouse to build on, so we designed bronze-silver-gold from first principles, using our own profiling results to justify every cleaning rule. Translating deeply normalized relationships into a flat, fast star schema meant introducing surrogate keys and deliberate denormalization choices. And calculations like monthly and yearly growth needed a proper physical date table and carefully written DAX. Working through these was most of the real learning in this project.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business impact is a governed, self-service dashboard that replaces manual, ad-hoc reporting with instant answers, while keeping sensitive data like credit card numbers masked well before it reaches any report. On the technical side, we delivered a complete medallion pipeline from a raw OLTP source through profiled, cleaned Silver tables to a proper star schema in Gold, fully documented, plus a working Power BI model with DAX-driven KPIs across five stakeholder-specific pages. Looking ahead: incremental loads as data volume grows, row-level security, an expanded KPI set, and a scheduled refresh. We see this as a solid, production-style foundation.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That's our AdventureWorks Sales Performance Dashboard, from raw operational data all the way through to a governed, self-service Power BI dashboard for five different teams. We'd love to open the floor to questions, and if it's useful, we're happy to walk through any part of the live dashboard or the underlying SQL in more depth.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D"/>
        </a:solidFill>
        <a:effectLst/>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rtlCol="0" anchor="ctr"/>
          <a:lstStyle/>
          <a:p>
            <a:pPr marL="0" indent="0">
              <a:buNone/>
            </a:pPr>
            <a:r>
              <a:rPr lang="en-US" sz="1200" b="1" kern="0" spc="200" dirty="0">
                <a:solidFill>
                  <a:srgbClr val="FF8A42"/>
                </a:solidFill>
                <a:latin typeface="Arial" pitchFamily="34" charset="0"/>
                <a:ea typeface="Arial" pitchFamily="34" charset="-122"/>
                <a:cs typeface="Arial" pitchFamily="34" charset="-120"/>
              </a:rPr>
              <a:t>FINAL PROJECT DEFENSE</a:t>
            </a:r>
            <a:endParaRPr lang="en-US" sz="1200" dirty="0"/>
          </a:p>
        </p:txBody>
      </p:sp>
      <p:pic>
        <p:nvPicPr>
          <p:cNvPr id="3" name="Image 0" descr="/home/claude/pptx_build/icons/star_white.png"/>
          <p:cNvPicPr>
            <a:picLocks noChangeAspect="1"/>
          </p:cNvPicPr>
          <p:nvPr/>
        </p:nvPicPr>
        <p:blipFill>
          <a:blip r:embed="rId3">
            <a:alphaModFix amt="22000"/>
          </a:blip>
          <a:stretch>
            <a:fillRect/>
          </a:stretch>
        </p:blipFill>
        <p:spPr>
          <a:xfrm>
            <a:off x="9418320" y="2286000"/>
            <a:ext cx="1828800" cy="1828800"/>
          </a:xfrm>
          <a:prstGeom prst="rect">
            <a:avLst/>
          </a:prstGeom>
        </p:spPr>
      </p:pic>
      <p:sp>
        <p:nvSpPr>
          <p:cNvPr id="4" name="Text 1"/>
          <p:cNvSpPr/>
          <p:nvPr/>
        </p:nvSpPr>
        <p:spPr>
          <a:xfrm>
            <a:off x="548640" y="2011680"/>
            <a:ext cx="8778240" cy="1737360"/>
          </a:xfrm>
          <a:prstGeom prst="rect">
            <a:avLst/>
          </a:prstGeom>
          <a:noFill/>
          <a:ln/>
        </p:spPr>
        <p:txBody>
          <a:bodyPr wrap="square" rtlCol="0" anchor="t"/>
          <a:lstStyle/>
          <a:p>
            <a:pPr marL="0" indent="0" algn="l">
              <a:lnSpc>
                <a:spcPct val="108000"/>
              </a:lnSpc>
              <a:buNone/>
            </a:pPr>
            <a:r>
              <a:rPr lang="en-US" sz="4600" b="1" dirty="0">
                <a:solidFill>
                  <a:srgbClr val="FFFFFF"/>
                </a:solidFill>
                <a:latin typeface="Arial" pitchFamily="34" charset="0"/>
                <a:ea typeface="Arial" pitchFamily="34" charset="-122"/>
                <a:cs typeface="Arial" pitchFamily="34" charset="-120"/>
              </a:rPr>
              <a:t>AdventureWorks Sales</a:t>
            </a:r>
            <a:endParaRPr lang="en-US" sz="4600" dirty="0"/>
          </a:p>
          <a:p>
            <a:pPr marL="0" indent="0" algn="l">
              <a:lnSpc>
                <a:spcPct val="108000"/>
              </a:lnSpc>
              <a:buNone/>
            </a:pPr>
            <a:r>
              <a:rPr lang="en-US" sz="4600" b="1" dirty="0">
                <a:solidFill>
                  <a:srgbClr val="FFFFFF"/>
                </a:solidFill>
                <a:latin typeface="Arial" pitchFamily="34" charset="0"/>
                <a:ea typeface="Arial" pitchFamily="34" charset="-122"/>
                <a:cs typeface="Arial" pitchFamily="34" charset="-120"/>
              </a:rPr>
              <a:t>Performance Dashboard</a:t>
            </a:r>
            <a:endParaRPr lang="en-US" sz="4600" dirty="0"/>
          </a:p>
        </p:txBody>
      </p:sp>
      <p:sp>
        <p:nvSpPr>
          <p:cNvPr id="5" name="Text 2"/>
          <p:cNvSpPr/>
          <p:nvPr/>
        </p:nvSpPr>
        <p:spPr>
          <a:xfrm>
            <a:off x="548640" y="3703320"/>
            <a:ext cx="8412480" cy="548640"/>
          </a:xfrm>
          <a:prstGeom prst="rect">
            <a:avLst/>
          </a:prstGeom>
          <a:noFill/>
          <a:ln/>
        </p:spPr>
        <p:txBody>
          <a:bodyPr wrap="square" rtlCol="0" anchor="t"/>
          <a:lstStyle/>
          <a:p>
            <a:pPr marL="0" indent="0" algn="l">
              <a:buNone/>
            </a:pPr>
            <a:r>
              <a:rPr lang="en-US" sz="1700" dirty="0">
                <a:solidFill>
                  <a:srgbClr val="C9D2E0"/>
                </a:solidFill>
                <a:latin typeface="Arial" pitchFamily="34" charset="0"/>
                <a:ea typeface="Arial" pitchFamily="34" charset="-122"/>
                <a:cs typeface="Arial" pitchFamily="34" charset="-120"/>
              </a:rPr>
              <a:t>A medallion-architecture data warehouse &amp; governed Power BI analytics solution</a:t>
            </a:r>
            <a:endParaRPr lang="en-US" sz="1700" dirty="0"/>
          </a:p>
        </p:txBody>
      </p:sp>
      <p:sp>
        <p:nvSpPr>
          <p:cNvPr id="6" name="Shape 3"/>
          <p:cNvSpPr/>
          <p:nvPr/>
        </p:nvSpPr>
        <p:spPr>
          <a:xfrm>
            <a:off x="548640" y="4526280"/>
            <a:ext cx="1920240" cy="685800"/>
          </a:xfrm>
          <a:prstGeom prst="roundRect">
            <a:avLst>
              <a:gd name="adj" fmla="val 49333"/>
            </a:avLst>
          </a:prstGeom>
          <a:solidFill>
            <a:srgbClr val="1B3A6B"/>
          </a:solidFill>
          <a:ln w="12700">
            <a:solidFill>
              <a:srgbClr val="2A4A7F"/>
            </a:solidFill>
            <a:prstDash val="solid"/>
          </a:ln>
        </p:spPr>
      </p:sp>
      <p:sp>
        <p:nvSpPr>
          <p:cNvPr id="7" name="Text 4"/>
          <p:cNvSpPr/>
          <p:nvPr/>
        </p:nvSpPr>
        <p:spPr>
          <a:xfrm>
            <a:off x="804672" y="4599432"/>
            <a:ext cx="1463040" cy="219456"/>
          </a:xfrm>
          <a:prstGeom prst="rect">
            <a:avLst/>
          </a:prstGeom>
          <a:noFill/>
          <a:ln/>
        </p:spPr>
        <p:txBody>
          <a:bodyPr wrap="square" rtlCol="0" anchor="ctr"/>
          <a:lstStyle/>
          <a:p>
            <a:pPr marL="0" indent="0">
              <a:buNone/>
            </a:pPr>
            <a:r>
              <a:rPr lang="en-US" sz="900" b="1" kern="0" spc="150" dirty="0">
                <a:solidFill>
                  <a:srgbClr val="C9D2E0"/>
                </a:solidFill>
                <a:latin typeface="Arial" pitchFamily="34" charset="0"/>
                <a:ea typeface="Arial" pitchFamily="34" charset="-122"/>
                <a:cs typeface="Arial" pitchFamily="34" charset="-120"/>
              </a:rPr>
              <a:t>TEAM</a:t>
            </a:r>
            <a:endParaRPr lang="en-US" sz="900" dirty="0"/>
          </a:p>
        </p:txBody>
      </p:sp>
      <p:sp>
        <p:nvSpPr>
          <p:cNvPr id="8" name="Text 5"/>
          <p:cNvSpPr/>
          <p:nvPr/>
        </p:nvSpPr>
        <p:spPr>
          <a:xfrm>
            <a:off x="804672" y="4828032"/>
            <a:ext cx="1463040" cy="292608"/>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Group 2 (G2)</a:t>
            </a:r>
            <a:endParaRPr lang="en-US" sz="1300" dirty="0"/>
          </a:p>
        </p:txBody>
      </p:sp>
      <p:sp>
        <p:nvSpPr>
          <p:cNvPr id="9" name="Shape 6"/>
          <p:cNvSpPr/>
          <p:nvPr/>
        </p:nvSpPr>
        <p:spPr>
          <a:xfrm>
            <a:off x="2697480" y="4526280"/>
            <a:ext cx="3200400" cy="685800"/>
          </a:xfrm>
          <a:prstGeom prst="roundRect">
            <a:avLst>
              <a:gd name="adj" fmla="val 49333"/>
            </a:avLst>
          </a:prstGeom>
          <a:solidFill>
            <a:srgbClr val="1B3A6B"/>
          </a:solidFill>
          <a:ln w="12700">
            <a:solidFill>
              <a:srgbClr val="2A4A7F"/>
            </a:solidFill>
            <a:prstDash val="solid"/>
          </a:ln>
        </p:spPr>
      </p:sp>
      <p:sp>
        <p:nvSpPr>
          <p:cNvPr id="10" name="Text 7"/>
          <p:cNvSpPr/>
          <p:nvPr/>
        </p:nvSpPr>
        <p:spPr>
          <a:xfrm>
            <a:off x="2953512" y="4599432"/>
            <a:ext cx="2743200" cy="219456"/>
          </a:xfrm>
          <a:prstGeom prst="rect">
            <a:avLst/>
          </a:prstGeom>
          <a:noFill/>
          <a:ln/>
        </p:spPr>
        <p:txBody>
          <a:bodyPr wrap="square" rtlCol="0" anchor="ctr"/>
          <a:lstStyle/>
          <a:p>
            <a:pPr marL="0" indent="0">
              <a:buNone/>
            </a:pPr>
            <a:r>
              <a:rPr lang="en-US" sz="900" b="1" kern="0" spc="150" dirty="0">
                <a:solidFill>
                  <a:srgbClr val="C9D2E0"/>
                </a:solidFill>
                <a:latin typeface="Arial" pitchFamily="34" charset="0"/>
                <a:ea typeface="Arial" pitchFamily="34" charset="-122"/>
                <a:cs typeface="Arial" pitchFamily="34" charset="-120"/>
              </a:rPr>
              <a:t>COURSE</a:t>
            </a:r>
            <a:endParaRPr lang="en-US" sz="900" dirty="0"/>
          </a:p>
        </p:txBody>
      </p:sp>
      <p:sp>
        <p:nvSpPr>
          <p:cNvPr id="11" name="Text 8"/>
          <p:cNvSpPr/>
          <p:nvPr/>
        </p:nvSpPr>
        <p:spPr>
          <a:xfrm>
            <a:off x="2953512" y="4828032"/>
            <a:ext cx="2743200" cy="292608"/>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Data Analysis Final Project</a:t>
            </a:r>
            <a:endParaRPr lang="en-US" sz="1300" dirty="0"/>
          </a:p>
        </p:txBody>
      </p:sp>
      <p:sp>
        <p:nvSpPr>
          <p:cNvPr id="12" name="Shape 9"/>
          <p:cNvSpPr/>
          <p:nvPr/>
        </p:nvSpPr>
        <p:spPr>
          <a:xfrm>
            <a:off x="6126480" y="4526280"/>
            <a:ext cx="4297680" cy="685800"/>
          </a:xfrm>
          <a:prstGeom prst="roundRect">
            <a:avLst>
              <a:gd name="adj" fmla="val 49333"/>
            </a:avLst>
          </a:prstGeom>
          <a:solidFill>
            <a:srgbClr val="1B3A6B"/>
          </a:solidFill>
          <a:ln w="12700">
            <a:solidFill>
              <a:srgbClr val="2A4A7F"/>
            </a:solidFill>
            <a:prstDash val="solid"/>
          </a:ln>
        </p:spPr>
      </p:sp>
      <p:sp>
        <p:nvSpPr>
          <p:cNvPr id="13" name="Text 10"/>
          <p:cNvSpPr/>
          <p:nvPr/>
        </p:nvSpPr>
        <p:spPr>
          <a:xfrm>
            <a:off x="6382512" y="4599432"/>
            <a:ext cx="3840480" cy="219456"/>
          </a:xfrm>
          <a:prstGeom prst="rect">
            <a:avLst/>
          </a:prstGeom>
          <a:noFill/>
          <a:ln/>
        </p:spPr>
        <p:txBody>
          <a:bodyPr wrap="square" rtlCol="0" anchor="ctr"/>
          <a:lstStyle/>
          <a:p>
            <a:pPr marL="0" indent="0">
              <a:buNone/>
            </a:pPr>
            <a:r>
              <a:rPr lang="en-US" sz="900" b="1" kern="0" spc="150" dirty="0">
                <a:solidFill>
                  <a:srgbClr val="C9D2E0"/>
                </a:solidFill>
                <a:latin typeface="Arial" pitchFamily="34" charset="0"/>
                <a:ea typeface="Arial" pitchFamily="34" charset="-122"/>
                <a:cs typeface="Arial" pitchFamily="34" charset="-120"/>
              </a:rPr>
              <a:t>DOMAIN</a:t>
            </a:r>
            <a:endParaRPr lang="en-US" sz="900" dirty="0"/>
          </a:p>
        </p:txBody>
      </p:sp>
      <p:sp>
        <p:nvSpPr>
          <p:cNvPr id="14" name="Text 11"/>
          <p:cNvSpPr/>
          <p:nvPr/>
        </p:nvSpPr>
        <p:spPr>
          <a:xfrm>
            <a:off x="6382512" y="4828032"/>
            <a:ext cx="3840480" cy="292608"/>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AdventureWorks Manufacturing Sales Analytics</a:t>
            </a:r>
            <a:endParaRPr lang="en-US" sz="1300" dirty="0"/>
          </a:p>
        </p:txBody>
      </p:sp>
      <p:sp>
        <p:nvSpPr>
          <p:cNvPr id="15" name="Shape 12"/>
          <p:cNvSpPr/>
          <p:nvPr/>
        </p:nvSpPr>
        <p:spPr>
          <a:xfrm>
            <a:off x="548640" y="6473952"/>
            <a:ext cx="146304" cy="146304"/>
          </a:xfrm>
          <a:prstGeom prst="roundRect">
            <a:avLst>
              <a:gd name="adj" fmla="val 21875"/>
            </a:avLst>
          </a:prstGeom>
          <a:solidFill>
            <a:srgbClr val="FFFFFF"/>
          </a:solidFill>
          <a:ln/>
        </p:spPr>
      </p:sp>
      <p:sp>
        <p:nvSpPr>
          <p:cNvPr id="16" name="Shape 13"/>
          <p:cNvSpPr/>
          <p:nvPr/>
        </p:nvSpPr>
        <p:spPr>
          <a:xfrm>
            <a:off x="630936" y="6556248"/>
            <a:ext cx="68580" cy="68580"/>
          </a:xfrm>
          <a:prstGeom prst="ellipse">
            <a:avLst/>
          </a:prstGeom>
          <a:solidFill>
            <a:srgbClr val="C6540E"/>
          </a:solidFill>
          <a:ln/>
        </p:spPr>
      </p:sp>
      <p:sp>
        <p:nvSpPr>
          <p:cNvPr id="17" name="Text 14"/>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C9D2E0"/>
                </a:solidFill>
                <a:latin typeface="Arial" pitchFamily="34" charset="0"/>
                <a:ea typeface="Arial" pitchFamily="34" charset="-122"/>
                <a:cs typeface="Arial" pitchFamily="34" charset="-120"/>
              </a:rPr>
              <a:t>AdventureWorks Analytics  ·  G2</a:t>
            </a:r>
            <a:endParaRPr lang="en-US" sz="1050" dirty="0"/>
          </a:p>
        </p:txBody>
      </p:sp>
      <p:sp>
        <p:nvSpPr>
          <p:cNvPr id="18" name="Text 15"/>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C9D2E0"/>
                </a:solidFill>
                <a:latin typeface="Arial" pitchFamily="34" charset="0"/>
                <a:ea typeface="Arial" pitchFamily="34" charset="-122"/>
                <a:cs typeface="Arial" pitchFamily="34" charset="-120"/>
              </a:rPr>
              <a:t>01 / 15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BUSINESS SCENARIO</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Data Trapped in Disconnected Systems</a:t>
            </a:r>
            <a:endParaRPr lang="en-US" sz="3200" dirty="0"/>
          </a:p>
        </p:txBody>
      </p:sp>
      <p:sp>
        <p:nvSpPr>
          <p:cNvPr id="6" name="Text 4"/>
          <p:cNvSpPr/>
          <p:nvPr/>
        </p:nvSpPr>
        <p:spPr>
          <a:xfrm>
            <a:off x="548640" y="1627632"/>
            <a:ext cx="9997135" cy="457200"/>
          </a:xfrm>
          <a:prstGeom prst="rect">
            <a:avLst/>
          </a:prstGeom>
          <a:noFill/>
          <a:ln/>
        </p:spPr>
        <p:txBody>
          <a:bodyPr wrap="square" rtlCol="0" anchor="t"/>
          <a:lstStyle/>
          <a:p>
            <a:pPr marL="0" indent="0" algn="l">
              <a:buNone/>
            </a:pPr>
            <a:r>
              <a:rPr lang="en-US" sz="1500" dirty="0">
                <a:solidFill>
                  <a:srgbClr val="51617C"/>
                </a:solidFill>
                <a:latin typeface="Arial" pitchFamily="34" charset="0"/>
                <a:ea typeface="Arial" pitchFamily="34" charset="-122"/>
                <a:cs typeface="Arial" pitchFamily="34" charset="-120"/>
              </a:rPr>
              <a:t>AdventureWorks Cycles sells globally through online and reseller channels — but couldn't see its own performance.</a:t>
            </a:r>
            <a:endParaRPr lang="en-US" sz="1500" dirty="0"/>
          </a:p>
        </p:txBody>
      </p:sp>
      <p:sp>
        <p:nvSpPr>
          <p:cNvPr id="7" name="Shape 5"/>
          <p:cNvSpPr/>
          <p:nvPr/>
        </p:nvSpPr>
        <p:spPr>
          <a:xfrm>
            <a:off x="548640" y="2583180"/>
            <a:ext cx="457200" cy="457200"/>
          </a:xfrm>
          <a:prstGeom prst="roundRect">
            <a:avLst>
              <a:gd name="adj" fmla="val 24000"/>
            </a:avLst>
          </a:prstGeom>
          <a:solidFill>
            <a:srgbClr val="F8EAE2"/>
          </a:solidFill>
          <a:ln/>
        </p:spPr>
      </p:sp>
      <p:pic>
        <p:nvPicPr>
          <p:cNvPr id="8" name="Image 0" descr="/home/claude/pptx_build/icons/alert_accent.png"/>
          <p:cNvPicPr>
            <a:picLocks noChangeAspect="1"/>
          </p:cNvPicPr>
          <p:nvPr/>
        </p:nvPicPr>
        <p:blipFill>
          <a:blip r:embed="rId3"/>
          <a:stretch>
            <a:fillRect/>
          </a:stretch>
        </p:blipFill>
        <p:spPr>
          <a:xfrm>
            <a:off x="640080" y="2674620"/>
            <a:ext cx="274320" cy="274320"/>
          </a:xfrm>
          <a:prstGeom prst="rect">
            <a:avLst/>
          </a:prstGeom>
        </p:spPr>
      </p:pic>
      <p:sp>
        <p:nvSpPr>
          <p:cNvPr id="9" name="Text 6"/>
          <p:cNvSpPr/>
          <p:nvPr/>
        </p:nvSpPr>
        <p:spPr>
          <a:xfrm>
            <a:off x="1207008" y="2331720"/>
            <a:ext cx="10271455" cy="960120"/>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Sales data scattered across disconnected transactional tables</a:t>
            </a:r>
            <a:endParaRPr lang="en-US" sz="1600" dirty="0"/>
          </a:p>
        </p:txBody>
      </p:sp>
      <p:sp>
        <p:nvSpPr>
          <p:cNvPr id="10" name="Shape 7"/>
          <p:cNvSpPr/>
          <p:nvPr/>
        </p:nvSpPr>
        <p:spPr>
          <a:xfrm>
            <a:off x="548640" y="3543300"/>
            <a:ext cx="457200" cy="457200"/>
          </a:xfrm>
          <a:prstGeom prst="roundRect">
            <a:avLst>
              <a:gd name="adj" fmla="val 24000"/>
            </a:avLst>
          </a:prstGeom>
          <a:solidFill>
            <a:srgbClr val="F8EAE2"/>
          </a:solidFill>
          <a:ln/>
        </p:spPr>
      </p:sp>
      <p:pic>
        <p:nvPicPr>
          <p:cNvPr id="11" name="Image 1" descr="/home/claude/pptx_build/icons/alert_accent.png"/>
          <p:cNvPicPr>
            <a:picLocks noChangeAspect="1"/>
          </p:cNvPicPr>
          <p:nvPr/>
        </p:nvPicPr>
        <p:blipFill>
          <a:blip r:embed="rId3"/>
          <a:stretch>
            <a:fillRect/>
          </a:stretch>
        </p:blipFill>
        <p:spPr>
          <a:xfrm>
            <a:off x="640080" y="3634740"/>
            <a:ext cx="274320" cy="274320"/>
          </a:xfrm>
          <a:prstGeom prst="rect">
            <a:avLst/>
          </a:prstGeom>
        </p:spPr>
      </p:pic>
      <p:sp>
        <p:nvSpPr>
          <p:cNvPr id="12" name="Text 8"/>
          <p:cNvSpPr/>
          <p:nvPr/>
        </p:nvSpPr>
        <p:spPr>
          <a:xfrm>
            <a:off x="1207008" y="3291840"/>
            <a:ext cx="10271455" cy="960120"/>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Manual reporting too slow for a growing, multi-region business</a:t>
            </a:r>
            <a:endParaRPr lang="en-US" sz="1600" dirty="0"/>
          </a:p>
        </p:txBody>
      </p:sp>
      <p:sp>
        <p:nvSpPr>
          <p:cNvPr id="13" name="Shape 9"/>
          <p:cNvSpPr/>
          <p:nvPr/>
        </p:nvSpPr>
        <p:spPr>
          <a:xfrm>
            <a:off x="548640" y="4503420"/>
            <a:ext cx="457200" cy="457200"/>
          </a:xfrm>
          <a:prstGeom prst="roundRect">
            <a:avLst>
              <a:gd name="adj" fmla="val 24000"/>
            </a:avLst>
          </a:prstGeom>
          <a:solidFill>
            <a:srgbClr val="F8EAE2"/>
          </a:solidFill>
          <a:ln/>
        </p:spPr>
      </p:sp>
      <p:pic>
        <p:nvPicPr>
          <p:cNvPr id="14" name="Image 2" descr="/home/claude/pptx_build/icons/target_accent.png"/>
          <p:cNvPicPr>
            <a:picLocks noChangeAspect="1"/>
          </p:cNvPicPr>
          <p:nvPr/>
        </p:nvPicPr>
        <p:blipFill>
          <a:blip r:embed="rId4"/>
          <a:stretch>
            <a:fillRect/>
          </a:stretch>
        </p:blipFill>
        <p:spPr>
          <a:xfrm>
            <a:off x="640080" y="4594860"/>
            <a:ext cx="274320" cy="274320"/>
          </a:xfrm>
          <a:prstGeom prst="rect">
            <a:avLst/>
          </a:prstGeom>
        </p:spPr>
      </p:pic>
      <p:sp>
        <p:nvSpPr>
          <p:cNvPr id="15" name="Text 10"/>
          <p:cNvSpPr/>
          <p:nvPr/>
        </p:nvSpPr>
        <p:spPr>
          <a:xfrm>
            <a:off x="1207008" y="4251960"/>
            <a:ext cx="10271455" cy="960120"/>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Goal: one governed, self-service source of truth</a:t>
            </a:r>
            <a:endParaRPr lang="en-US" sz="1600" dirty="0"/>
          </a:p>
        </p:txBody>
      </p:sp>
      <p:sp>
        <p:nvSpPr>
          <p:cNvPr id="16" name="Shape 11"/>
          <p:cNvSpPr/>
          <p:nvPr/>
        </p:nvSpPr>
        <p:spPr>
          <a:xfrm>
            <a:off x="548640" y="5463540"/>
            <a:ext cx="457200" cy="457200"/>
          </a:xfrm>
          <a:prstGeom prst="roundRect">
            <a:avLst>
              <a:gd name="adj" fmla="val 24000"/>
            </a:avLst>
          </a:prstGeom>
          <a:solidFill>
            <a:srgbClr val="F8EAE2"/>
          </a:solidFill>
          <a:ln/>
        </p:spPr>
      </p:sp>
      <p:pic>
        <p:nvPicPr>
          <p:cNvPr id="17" name="Image 3" descr="/home/claude/pptx_build/icons/shield_accent.png"/>
          <p:cNvPicPr>
            <a:picLocks noChangeAspect="1"/>
          </p:cNvPicPr>
          <p:nvPr/>
        </p:nvPicPr>
        <p:blipFill>
          <a:blip r:embed="rId5"/>
          <a:stretch>
            <a:fillRect/>
          </a:stretch>
        </p:blipFill>
        <p:spPr>
          <a:xfrm>
            <a:off x="640080" y="5554980"/>
            <a:ext cx="274320" cy="274320"/>
          </a:xfrm>
          <a:prstGeom prst="rect">
            <a:avLst/>
          </a:prstGeom>
        </p:spPr>
      </p:pic>
      <p:sp>
        <p:nvSpPr>
          <p:cNvPr id="18" name="Text 12"/>
          <p:cNvSpPr/>
          <p:nvPr/>
        </p:nvSpPr>
        <p:spPr>
          <a:xfrm>
            <a:off x="1207008" y="5212080"/>
            <a:ext cx="10271455" cy="960120"/>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Sensitive data — like credit card numbers — masked by design</a:t>
            </a:r>
            <a:endParaRPr lang="en-US" sz="1600" dirty="0"/>
          </a:p>
        </p:txBody>
      </p:sp>
      <p:sp>
        <p:nvSpPr>
          <p:cNvPr id="19" name="Shape 13"/>
          <p:cNvSpPr/>
          <p:nvPr/>
        </p:nvSpPr>
        <p:spPr>
          <a:xfrm>
            <a:off x="548640" y="6473952"/>
            <a:ext cx="146304" cy="146304"/>
          </a:xfrm>
          <a:prstGeom prst="roundRect">
            <a:avLst>
              <a:gd name="adj" fmla="val 21875"/>
            </a:avLst>
          </a:prstGeom>
          <a:solidFill>
            <a:srgbClr val="0B1E3D"/>
          </a:solidFill>
          <a:ln/>
        </p:spPr>
      </p:sp>
      <p:sp>
        <p:nvSpPr>
          <p:cNvPr id="20" name="Shape 14"/>
          <p:cNvSpPr/>
          <p:nvPr/>
        </p:nvSpPr>
        <p:spPr>
          <a:xfrm>
            <a:off x="630936" y="6556248"/>
            <a:ext cx="68580" cy="68580"/>
          </a:xfrm>
          <a:prstGeom prst="ellipse">
            <a:avLst/>
          </a:prstGeom>
          <a:solidFill>
            <a:srgbClr val="C6540E"/>
          </a:solidFill>
          <a:ln/>
        </p:spPr>
      </p:sp>
      <p:sp>
        <p:nvSpPr>
          <p:cNvPr id="21" name="Text 15"/>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22" name="Text 16"/>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02 / 15</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BUSINESS QUESTIONS</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Six Themes Behind Fifteen Business Questions</a:t>
            </a:r>
            <a:endParaRPr lang="en-US" sz="3200" dirty="0"/>
          </a:p>
        </p:txBody>
      </p:sp>
      <p:sp>
        <p:nvSpPr>
          <p:cNvPr id="6" name="Shape 4"/>
          <p:cNvSpPr/>
          <p:nvPr/>
        </p:nvSpPr>
        <p:spPr>
          <a:xfrm>
            <a:off x="548640" y="1965960"/>
            <a:ext cx="3515258" cy="1572768"/>
          </a:xfrm>
          <a:prstGeom prst="roundRect">
            <a:avLst>
              <a:gd name="adj" fmla="val 4651"/>
            </a:avLst>
          </a:prstGeom>
          <a:solidFill>
            <a:srgbClr val="F5F7FB"/>
          </a:solidFill>
          <a:ln w="12700">
            <a:solidFill>
              <a:srgbClr val="E1E6EF"/>
            </a:solidFill>
            <a:prstDash val="solid"/>
          </a:ln>
        </p:spPr>
      </p:sp>
      <p:sp>
        <p:nvSpPr>
          <p:cNvPr id="7" name="Shape 5"/>
          <p:cNvSpPr/>
          <p:nvPr/>
        </p:nvSpPr>
        <p:spPr>
          <a:xfrm>
            <a:off x="749808" y="2167128"/>
            <a:ext cx="502920" cy="502920"/>
          </a:xfrm>
          <a:prstGeom prst="roundRect">
            <a:avLst>
              <a:gd name="adj" fmla="val 23636"/>
            </a:avLst>
          </a:prstGeom>
          <a:solidFill>
            <a:srgbClr val="0B1E3D"/>
          </a:solidFill>
          <a:ln/>
        </p:spPr>
      </p:sp>
      <p:pic>
        <p:nvPicPr>
          <p:cNvPr id="8" name="Image 0" descr="/home/claude/pptx_build/icons/chart_bright.png"/>
          <p:cNvPicPr>
            <a:picLocks noChangeAspect="1"/>
          </p:cNvPicPr>
          <p:nvPr/>
        </p:nvPicPr>
        <p:blipFill>
          <a:blip r:embed="rId3"/>
          <a:stretch>
            <a:fillRect/>
          </a:stretch>
        </p:blipFill>
        <p:spPr>
          <a:xfrm>
            <a:off x="860450" y="2277770"/>
            <a:ext cx="281635" cy="281635"/>
          </a:xfrm>
          <a:prstGeom prst="rect">
            <a:avLst/>
          </a:prstGeom>
        </p:spPr>
      </p:pic>
      <p:sp>
        <p:nvSpPr>
          <p:cNvPr id="9" name="Text 6"/>
          <p:cNvSpPr/>
          <p:nvPr/>
        </p:nvSpPr>
        <p:spPr>
          <a:xfrm>
            <a:off x="749808" y="2798064"/>
            <a:ext cx="3112922" cy="530352"/>
          </a:xfrm>
          <a:prstGeom prst="rect">
            <a:avLst/>
          </a:prstGeom>
          <a:noFill/>
          <a:ln/>
        </p:spPr>
        <p:txBody>
          <a:bodyPr wrap="square" rtlCol="0" anchor="t"/>
          <a:lstStyle/>
          <a:p>
            <a:pPr marL="0" indent="0" algn="l">
              <a:lnSpc>
                <a:spcPct val="108000"/>
              </a:lnSpc>
              <a:buNone/>
            </a:pPr>
            <a:r>
              <a:rPr lang="en-US" sz="1450" b="1" dirty="0">
                <a:solidFill>
                  <a:srgbClr val="0B1E3D"/>
                </a:solidFill>
                <a:latin typeface="Arial" pitchFamily="34" charset="0"/>
                <a:ea typeface="Arial" pitchFamily="34" charset="-122"/>
                <a:cs typeface="Arial" pitchFamily="34" charset="-120"/>
              </a:rPr>
              <a:t>Sales Performance</a:t>
            </a:r>
            <a:endParaRPr lang="en-US" sz="1450" dirty="0"/>
          </a:p>
        </p:txBody>
      </p:sp>
      <p:sp>
        <p:nvSpPr>
          <p:cNvPr id="10" name="Text 7"/>
          <p:cNvSpPr/>
          <p:nvPr/>
        </p:nvSpPr>
        <p:spPr>
          <a:xfrm>
            <a:off x="749808" y="3364992"/>
            <a:ext cx="3112922" cy="36576"/>
          </a:xfrm>
          <a:prstGeom prst="rect">
            <a:avLst/>
          </a:prstGeom>
          <a:noFill/>
          <a:ln/>
        </p:spPr>
        <p:txBody>
          <a:bodyPr wrap="square" rtlCol="0" anchor="t"/>
          <a:lstStyle/>
          <a:p>
            <a:pPr marL="0" indent="0" algn="l">
              <a:buNone/>
            </a:pPr>
            <a:r>
              <a:rPr lang="en-US" sz="1150" dirty="0">
                <a:solidFill>
                  <a:srgbClr val="51617C"/>
                </a:solidFill>
                <a:latin typeface="Arial" pitchFamily="34" charset="0"/>
                <a:ea typeface="Arial" pitchFamily="34" charset="-122"/>
                <a:cs typeface="Arial" pitchFamily="34" charset="-120"/>
              </a:rPr>
              <a:t>Revenue, orders &amp; growth over time</a:t>
            </a:r>
            <a:endParaRPr lang="en-US" sz="1150" dirty="0"/>
          </a:p>
        </p:txBody>
      </p:sp>
      <p:sp>
        <p:nvSpPr>
          <p:cNvPr id="11" name="Shape 8"/>
          <p:cNvSpPr/>
          <p:nvPr/>
        </p:nvSpPr>
        <p:spPr>
          <a:xfrm>
            <a:off x="4338218" y="1965960"/>
            <a:ext cx="3515258" cy="1572768"/>
          </a:xfrm>
          <a:prstGeom prst="roundRect">
            <a:avLst>
              <a:gd name="adj" fmla="val 4651"/>
            </a:avLst>
          </a:prstGeom>
          <a:solidFill>
            <a:srgbClr val="F5F7FB"/>
          </a:solidFill>
          <a:ln w="12700">
            <a:solidFill>
              <a:srgbClr val="E1E6EF"/>
            </a:solidFill>
            <a:prstDash val="solid"/>
          </a:ln>
        </p:spPr>
      </p:sp>
      <p:sp>
        <p:nvSpPr>
          <p:cNvPr id="12" name="Shape 9"/>
          <p:cNvSpPr/>
          <p:nvPr/>
        </p:nvSpPr>
        <p:spPr>
          <a:xfrm>
            <a:off x="4539386" y="2167128"/>
            <a:ext cx="502920" cy="502920"/>
          </a:xfrm>
          <a:prstGeom prst="roundRect">
            <a:avLst>
              <a:gd name="adj" fmla="val 23636"/>
            </a:avLst>
          </a:prstGeom>
          <a:solidFill>
            <a:srgbClr val="0B1E3D"/>
          </a:solidFill>
          <a:ln/>
        </p:spPr>
      </p:sp>
      <p:pic>
        <p:nvPicPr>
          <p:cNvPr id="13" name="Image 1" descr="/home/claude/pptx_build/icons/users_bright.png"/>
          <p:cNvPicPr>
            <a:picLocks noChangeAspect="1"/>
          </p:cNvPicPr>
          <p:nvPr/>
        </p:nvPicPr>
        <p:blipFill>
          <a:blip r:embed="rId4"/>
          <a:stretch>
            <a:fillRect/>
          </a:stretch>
        </p:blipFill>
        <p:spPr>
          <a:xfrm>
            <a:off x="4650029" y="2277770"/>
            <a:ext cx="281635" cy="281635"/>
          </a:xfrm>
          <a:prstGeom prst="rect">
            <a:avLst/>
          </a:prstGeom>
        </p:spPr>
      </p:pic>
      <p:sp>
        <p:nvSpPr>
          <p:cNvPr id="14" name="Text 10"/>
          <p:cNvSpPr/>
          <p:nvPr/>
        </p:nvSpPr>
        <p:spPr>
          <a:xfrm>
            <a:off x="4539386" y="2798064"/>
            <a:ext cx="3112922" cy="530352"/>
          </a:xfrm>
          <a:prstGeom prst="rect">
            <a:avLst/>
          </a:prstGeom>
          <a:noFill/>
          <a:ln/>
        </p:spPr>
        <p:txBody>
          <a:bodyPr wrap="square" rtlCol="0" anchor="t"/>
          <a:lstStyle/>
          <a:p>
            <a:pPr marL="0" indent="0" algn="l">
              <a:lnSpc>
                <a:spcPct val="108000"/>
              </a:lnSpc>
              <a:buNone/>
            </a:pPr>
            <a:r>
              <a:rPr lang="en-US" sz="1450" b="1" dirty="0">
                <a:solidFill>
                  <a:srgbClr val="0B1E3D"/>
                </a:solidFill>
                <a:latin typeface="Arial" pitchFamily="34" charset="0"/>
                <a:ea typeface="Arial" pitchFamily="34" charset="-122"/>
                <a:cs typeface="Arial" pitchFamily="34" charset="-120"/>
              </a:rPr>
              <a:t>Customer Analysis</a:t>
            </a:r>
            <a:endParaRPr lang="en-US" sz="1450" dirty="0"/>
          </a:p>
        </p:txBody>
      </p:sp>
      <p:sp>
        <p:nvSpPr>
          <p:cNvPr id="15" name="Text 11"/>
          <p:cNvSpPr/>
          <p:nvPr/>
        </p:nvSpPr>
        <p:spPr>
          <a:xfrm>
            <a:off x="4539386" y="3364992"/>
            <a:ext cx="3112922" cy="36576"/>
          </a:xfrm>
          <a:prstGeom prst="rect">
            <a:avLst/>
          </a:prstGeom>
          <a:noFill/>
          <a:ln/>
        </p:spPr>
        <p:txBody>
          <a:bodyPr wrap="square" rtlCol="0" anchor="t"/>
          <a:lstStyle/>
          <a:p>
            <a:pPr marL="0" indent="0" algn="l">
              <a:buNone/>
            </a:pPr>
            <a:r>
              <a:rPr lang="en-US" sz="1150" dirty="0">
                <a:solidFill>
                  <a:srgbClr val="51617C"/>
                </a:solidFill>
                <a:latin typeface="Arial" pitchFamily="34" charset="0"/>
                <a:ea typeface="Arial" pitchFamily="34" charset="-122"/>
                <a:cs typeface="Arial" pitchFamily="34" charset="-120"/>
              </a:rPr>
              <a:t>Who buys, how much, how often</a:t>
            </a:r>
            <a:endParaRPr lang="en-US" sz="1150" dirty="0"/>
          </a:p>
        </p:txBody>
      </p:sp>
      <p:sp>
        <p:nvSpPr>
          <p:cNvPr id="16" name="Shape 12"/>
          <p:cNvSpPr/>
          <p:nvPr/>
        </p:nvSpPr>
        <p:spPr>
          <a:xfrm>
            <a:off x="8127797" y="1965960"/>
            <a:ext cx="3515258" cy="1572768"/>
          </a:xfrm>
          <a:prstGeom prst="roundRect">
            <a:avLst>
              <a:gd name="adj" fmla="val 4651"/>
            </a:avLst>
          </a:prstGeom>
          <a:solidFill>
            <a:srgbClr val="F5F7FB"/>
          </a:solidFill>
          <a:ln w="12700">
            <a:solidFill>
              <a:srgbClr val="E1E6EF"/>
            </a:solidFill>
            <a:prstDash val="solid"/>
          </a:ln>
        </p:spPr>
      </p:sp>
      <p:sp>
        <p:nvSpPr>
          <p:cNvPr id="17" name="Shape 13"/>
          <p:cNvSpPr/>
          <p:nvPr/>
        </p:nvSpPr>
        <p:spPr>
          <a:xfrm>
            <a:off x="8328965" y="2167128"/>
            <a:ext cx="502920" cy="502920"/>
          </a:xfrm>
          <a:prstGeom prst="roundRect">
            <a:avLst>
              <a:gd name="adj" fmla="val 23636"/>
            </a:avLst>
          </a:prstGeom>
          <a:solidFill>
            <a:srgbClr val="0B1E3D"/>
          </a:solidFill>
          <a:ln/>
        </p:spPr>
      </p:sp>
      <p:pic>
        <p:nvPicPr>
          <p:cNvPr id="18" name="Image 2" descr="/home/claude/pptx_build/icons/box_bright.png"/>
          <p:cNvPicPr>
            <a:picLocks noChangeAspect="1"/>
          </p:cNvPicPr>
          <p:nvPr/>
        </p:nvPicPr>
        <p:blipFill>
          <a:blip r:embed="rId5"/>
          <a:stretch>
            <a:fillRect/>
          </a:stretch>
        </p:blipFill>
        <p:spPr>
          <a:xfrm>
            <a:off x="8439607" y="2277770"/>
            <a:ext cx="281635" cy="281635"/>
          </a:xfrm>
          <a:prstGeom prst="rect">
            <a:avLst/>
          </a:prstGeom>
        </p:spPr>
      </p:pic>
      <p:sp>
        <p:nvSpPr>
          <p:cNvPr id="19" name="Text 14"/>
          <p:cNvSpPr/>
          <p:nvPr/>
        </p:nvSpPr>
        <p:spPr>
          <a:xfrm>
            <a:off x="8328965" y="2798064"/>
            <a:ext cx="3112922" cy="530352"/>
          </a:xfrm>
          <a:prstGeom prst="rect">
            <a:avLst/>
          </a:prstGeom>
          <a:noFill/>
          <a:ln/>
        </p:spPr>
        <p:txBody>
          <a:bodyPr wrap="square" rtlCol="0" anchor="t"/>
          <a:lstStyle/>
          <a:p>
            <a:pPr marL="0" indent="0" algn="l">
              <a:lnSpc>
                <a:spcPct val="108000"/>
              </a:lnSpc>
              <a:buNone/>
            </a:pPr>
            <a:r>
              <a:rPr lang="en-US" sz="1450" b="1" dirty="0">
                <a:solidFill>
                  <a:srgbClr val="0B1E3D"/>
                </a:solidFill>
                <a:latin typeface="Arial" pitchFamily="34" charset="0"/>
                <a:ea typeface="Arial" pitchFamily="34" charset="-122"/>
                <a:cs typeface="Arial" pitchFamily="34" charset="-120"/>
              </a:rPr>
              <a:t>Product Analysis</a:t>
            </a:r>
            <a:endParaRPr lang="en-US" sz="1450" dirty="0"/>
          </a:p>
        </p:txBody>
      </p:sp>
      <p:sp>
        <p:nvSpPr>
          <p:cNvPr id="20" name="Text 15"/>
          <p:cNvSpPr/>
          <p:nvPr/>
        </p:nvSpPr>
        <p:spPr>
          <a:xfrm>
            <a:off x="8328965" y="3364992"/>
            <a:ext cx="3112922" cy="36576"/>
          </a:xfrm>
          <a:prstGeom prst="rect">
            <a:avLst/>
          </a:prstGeom>
          <a:noFill/>
          <a:ln/>
        </p:spPr>
        <p:txBody>
          <a:bodyPr wrap="square" rtlCol="0" anchor="t"/>
          <a:lstStyle/>
          <a:p>
            <a:pPr marL="0" indent="0" algn="l">
              <a:buNone/>
            </a:pPr>
            <a:r>
              <a:rPr lang="en-US" sz="1150" dirty="0">
                <a:solidFill>
                  <a:srgbClr val="51617C"/>
                </a:solidFill>
                <a:latin typeface="Arial" pitchFamily="34" charset="0"/>
                <a:ea typeface="Arial" pitchFamily="34" charset="-122"/>
                <a:cs typeface="Arial" pitchFamily="34" charset="-120"/>
              </a:rPr>
              <a:t>Best sellers by quantity &amp; category</a:t>
            </a:r>
            <a:endParaRPr lang="en-US" sz="1150" dirty="0"/>
          </a:p>
        </p:txBody>
      </p:sp>
      <p:sp>
        <p:nvSpPr>
          <p:cNvPr id="21" name="Shape 16"/>
          <p:cNvSpPr/>
          <p:nvPr/>
        </p:nvSpPr>
        <p:spPr>
          <a:xfrm>
            <a:off x="548640" y="3813048"/>
            <a:ext cx="3515258" cy="1572768"/>
          </a:xfrm>
          <a:prstGeom prst="roundRect">
            <a:avLst>
              <a:gd name="adj" fmla="val 4651"/>
            </a:avLst>
          </a:prstGeom>
          <a:solidFill>
            <a:srgbClr val="F5F7FB"/>
          </a:solidFill>
          <a:ln w="12700">
            <a:solidFill>
              <a:srgbClr val="E1E6EF"/>
            </a:solidFill>
            <a:prstDash val="solid"/>
          </a:ln>
        </p:spPr>
      </p:sp>
      <p:sp>
        <p:nvSpPr>
          <p:cNvPr id="22" name="Shape 17"/>
          <p:cNvSpPr/>
          <p:nvPr/>
        </p:nvSpPr>
        <p:spPr>
          <a:xfrm>
            <a:off x="749808" y="4014216"/>
            <a:ext cx="502920" cy="502920"/>
          </a:xfrm>
          <a:prstGeom prst="roundRect">
            <a:avLst>
              <a:gd name="adj" fmla="val 23636"/>
            </a:avLst>
          </a:prstGeom>
          <a:solidFill>
            <a:srgbClr val="0B1E3D"/>
          </a:solidFill>
          <a:ln/>
        </p:spPr>
      </p:sp>
      <p:pic>
        <p:nvPicPr>
          <p:cNvPr id="23" name="Image 3" descr="/home/claude/pptx_build/icons/globe_bright.png"/>
          <p:cNvPicPr>
            <a:picLocks noChangeAspect="1"/>
          </p:cNvPicPr>
          <p:nvPr/>
        </p:nvPicPr>
        <p:blipFill>
          <a:blip r:embed="rId6"/>
          <a:stretch>
            <a:fillRect/>
          </a:stretch>
        </p:blipFill>
        <p:spPr>
          <a:xfrm>
            <a:off x="860450" y="4124858"/>
            <a:ext cx="281635" cy="281635"/>
          </a:xfrm>
          <a:prstGeom prst="rect">
            <a:avLst/>
          </a:prstGeom>
        </p:spPr>
      </p:pic>
      <p:sp>
        <p:nvSpPr>
          <p:cNvPr id="24" name="Text 18"/>
          <p:cNvSpPr/>
          <p:nvPr/>
        </p:nvSpPr>
        <p:spPr>
          <a:xfrm>
            <a:off x="749808" y="4645152"/>
            <a:ext cx="3112922" cy="530352"/>
          </a:xfrm>
          <a:prstGeom prst="rect">
            <a:avLst/>
          </a:prstGeom>
          <a:noFill/>
          <a:ln/>
        </p:spPr>
        <p:txBody>
          <a:bodyPr wrap="square" rtlCol="0" anchor="t"/>
          <a:lstStyle/>
          <a:p>
            <a:pPr marL="0" indent="0" algn="l">
              <a:lnSpc>
                <a:spcPct val="108000"/>
              </a:lnSpc>
              <a:buNone/>
            </a:pPr>
            <a:r>
              <a:rPr lang="en-US" sz="1450" b="1" dirty="0">
                <a:solidFill>
                  <a:srgbClr val="0B1E3D"/>
                </a:solidFill>
                <a:latin typeface="Arial" pitchFamily="34" charset="0"/>
                <a:ea typeface="Arial" pitchFamily="34" charset="-122"/>
                <a:cs typeface="Arial" pitchFamily="34" charset="-120"/>
              </a:rPr>
              <a:t>Territory Analysis</a:t>
            </a:r>
            <a:endParaRPr lang="en-US" sz="1450" dirty="0"/>
          </a:p>
        </p:txBody>
      </p:sp>
      <p:sp>
        <p:nvSpPr>
          <p:cNvPr id="25" name="Text 19"/>
          <p:cNvSpPr/>
          <p:nvPr/>
        </p:nvSpPr>
        <p:spPr>
          <a:xfrm>
            <a:off x="749808" y="5212080"/>
            <a:ext cx="3112922" cy="36576"/>
          </a:xfrm>
          <a:prstGeom prst="rect">
            <a:avLst/>
          </a:prstGeom>
          <a:noFill/>
          <a:ln/>
        </p:spPr>
        <p:txBody>
          <a:bodyPr wrap="square" rtlCol="0" anchor="t"/>
          <a:lstStyle/>
          <a:p>
            <a:pPr marL="0" indent="0" algn="l">
              <a:buNone/>
            </a:pPr>
            <a:r>
              <a:rPr lang="en-US" sz="1150" dirty="0">
                <a:solidFill>
                  <a:srgbClr val="51617C"/>
                </a:solidFill>
                <a:latin typeface="Arial" pitchFamily="34" charset="0"/>
                <a:ea typeface="Arial" pitchFamily="34" charset="-122"/>
                <a:cs typeface="Arial" pitchFamily="34" charset="-120"/>
              </a:rPr>
              <a:t>Performance across regions &amp; markets</a:t>
            </a:r>
            <a:endParaRPr lang="en-US" sz="1150" dirty="0"/>
          </a:p>
        </p:txBody>
      </p:sp>
      <p:sp>
        <p:nvSpPr>
          <p:cNvPr id="26" name="Shape 20"/>
          <p:cNvSpPr/>
          <p:nvPr/>
        </p:nvSpPr>
        <p:spPr>
          <a:xfrm>
            <a:off x="4338218" y="3813048"/>
            <a:ext cx="3515258" cy="1572768"/>
          </a:xfrm>
          <a:prstGeom prst="roundRect">
            <a:avLst>
              <a:gd name="adj" fmla="val 4651"/>
            </a:avLst>
          </a:prstGeom>
          <a:solidFill>
            <a:srgbClr val="F5F7FB"/>
          </a:solidFill>
          <a:ln w="12700">
            <a:solidFill>
              <a:srgbClr val="E1E6EF"/>
            </a:solidFill>
            <a:prstDash val="solid"/>
          </a:ln>
        </p:spPr>
      </p:sp>
      <p:sp>
        <p:nvSpPr>
          <p:cNvPr id="27" name="Shape 21"/>
          <p:cNvSpPr/>
          <p:nvPr/>
        </p:nvSpPr>
        <p:spPr>
          <a:xfrm>
            <a:off x="4539386" y="4014216"/>
            <a:ext cx="502920" cy="502920"/>
          </a:xfrm>
          <a:prstGeom prst="roundRect">
            <a:avLst>
              <a:gd name="adj" fmla="val 23636"/>
            </a:avLst>
          </a:prstGeom>
          <a:solidFill>
            <a:srgbClr val="0B1E3D"/>
          </a:solidFill>
          <a:ln/>
        </p:spPr>
      </p:sp>
      <p:pic>
        <p:nvPicPr>
          <p:cNvPr id="28" name="Image 4" descr="/home/claude/pptx_build/icons/channel_bright.png"/>
          <p:cNvPicPr>
            <a:picLocks noChangeAspect="1"/>
          </p:cNvPicPr>
          <p:nvPr/>
        </p:nvPicPr>
        <p:blipFill>
          <a:blip r:embed="rId7"/>
          <a:stretch>
            <a:fillRect/>
          </a:stretch>
        </p:blipFill>
        <p:spPr>
          <a:xfrm>
            <a:off x="4650029" y="4124858"/>
            <a:ext cx="281635" cy="281635"/>
          </a:xfrm>
          <a:prstGeom prst="rect">
            <a:avLst/>
          </a:prstGeom>
        </p:spPr>
      </p:pic>
      <p:sp>
        <p:nvSpPr>
          <p:cNvPr id="29" name="Text 22"/>
          <p:cNvSpPr/>
          <p:nvPr/>
        </p:nvSpPr>
        <p:spPr>
          <a:xfrm>
            <a:off x="4539386" y="4645152"/>
            <a:ext cx="3112922" cy="530352"/>
          </a:xfrm>
          <a:prstGeom prst="rect">
            <a:avLst/>
          </a:prstGeom>
          <a:noFill/>
          <a:ln/>
        </p:spPr>
        <p:txBody>
          <a:bodyPr wrap="square" rtlCol="0" anchor="t"/>
          <a:lstStyle/>
          <a:p>
            <a:pPr marL="0" indent="0" algn="l">
              <a:lnSpc>
                <a:spcPct val="108000"/>
              </a:lnSpc>
              <a:buNone/>
            </a:pPr>
            <a:r>
              <a:rPr lang="en-US" sz="1450" b="1" dirty="0">
                <a:solidFill>
                  <a:srgbClr val="0B1E3D"/>
                </a:solidFill>
                <a:latin typeface="Arial" pitchFamily="34" charset="0"/>
                <a:ea typeface="Arial" pitchFamily="34" charset="-122"/>
                <a:cs typeface="Arial" pitchFamily="34" charset="-120"/>
              </a:rPr>
              <a:t>Sales Channels</a:t>
            </a:r>
            <a:endParaRPr lang="en-US" sz="1450" dirty="0"/>
          </a:p>
        </p:txBody>
      </p:sp>
      <p:sp>
        <p:nvSpPr>
          <p:cNvPr id="30" name="Text 23"/>
          <p:cNvSpPr/>
          <p:nvPr/>
        </p:nvSpPr>
        <p:spPr>
          <a:xfrm>
            <a:off x="4539386" y="5212080"/>
            <a:ext cx="3112922" cy="36576"/>
          </a:xfrm>
          <a:prstGeom prst="rect">
            <a:avLst/>
          </a:prstGeom>
          <a:noFill/>
          <a:ln/>
        </p:spPr>
        <p:txBody>
          <a:bodyPr wrap="square" rtlCol="0" anchor="t"/>
          <a:lstStyle/>
          <a:p>
            <a:pPr marL="0" indent="0" algn="l">
              <a:buNone/>
            </a:pPr>
            <a:r>
              <a:rPr lang="en-US" sz="1150" dirty="0">
                <a:solidFill>
                  <a:srgbClr val="51617C"/>
                </a:solidFill>
                <a:latin typeface="Arial" pitchFamily="34" charset="0"/>
                <a:ea typeface="Arial" pitchFamily="34" charset="-122"/>
                <a:cs typeface="Arial" pitchFamily="34" charset="-120"/>
              </a:rPr>
              <a:t>Online vs. reseller / store performance</a:t>
            </a:r>
            <a:endParaRPr lang="en-US" sz="1150" dirty="0"/>
          </a:p>
        </p:txBody>
      </p:sp>
      <p:sp>
        <p:nvSpPr>
          <p:cNvPr id="31" name="Shape 24"/>
          <p:cNvSpPr/>
          <p:nvPr/>
        </p:nvSpPr>
        <p:spPr>
          <a:xfrm>
            <a:off x="8127797" y="3813048"/>
            <a:ext cx="3515258" cy="1572768"/>
          </a:xfrm>
          <a:prstGeom prst="roundRect">
            <a:avLst>
              <a:gd name="adj" fmla="val 4651"/>
            </a:avLst>
          </a:prstGeom>
          <a:solidFill>
            <a:srgbClr val="F5F7FB"/>
          </a:solidFill>
          <a:ln w="12700">
            <a:solidFill>
              <a:srgbClr val="E1E6EF"/>
            </a:solidFill>
            <a:prstDash val="solid"/>
          </a:ln>
        </p:spPr>
      </p:sp>
      <p:sp>
        <p:nvSpPr>
          <p:cNvPr id="32" name="Shape 25"/>
          <p:cNvSpPr/>
          <p:nvPr/>
        </p:nvSpPr>
        <p:spPr>
          <a:xfrm>
            <a:off x="8328965" y="4014216"/>
            <a:ext cx="502920" cy="502920"/>
          </a:xfrm>
          <a:prstGeom prst="roundRect">
            <a:avLst>
              <a:gd name="adj" fmla="val 23636"/>
            </a:avLst>
          </a:prstGeom>
          <a:solidFill>
            <a:srgbClr val="0B1E3D"/>
          </a:solidFill>
          <a:ln/>
        </p:spPr>
      </p:sp>
      <p:pic>
        <p:nvPicPr>
          <p:cNvPr id="33" name="Image 5" descr="/home/claude/pptx_build/icons/truck_bright.png"/>
          <p:cNvPicPr>
            <a:picLocks noChangeAspect="1"/>
          </p:cNvPicPr>
          <p:nvPr/>
        </p:nvPicPr>
        <p:blipFill>
          <a:blip r:embed="rId8"/>
          <a:stretch>
            <a:fillRect/>
          </a:stretch>
        </p:blipFill>
        <p:spPr>
          <a:xfrm>
            <a:off x="8439607" y="4124858"/>
            <a:ext cx="281635" cy="281635"/>
          </a:xfrm>
          <a:prstGeom prst="rect">
            <a:avLst/>
          </a:prstGeom>
        </p:spPr>
      </p:pic>
      <p:sp>
        <p:nvSpPr>
          <p:cNvPr id="34" name="Text 26"/>
          <p:cNvSpPr/>
          <p:nvPr/>
        </p:nvSpPr>
        <p:spPr>
          <a:xfrm>
            <a:off x="8328965" y="4645152"/>
            <a:ext cx="3112922" cy="530352"/>
          </a:xfrm>
          <a:prstGeom prst="rect">
            <a:avLst/>
          </a:prstGeom>
          <a:noFill/>
          <a:ln/>
        </p:spPr>
        <p:txBody>
          <a:bodyPr wrap="square" rtlCol="0" anchor="t"/>
          <a:lstStyle/>
          <a:p>
            <a:pPr marL="0" indent="0" algn="l">
              <a:lnSpc>
                <a:spcPct val="108000"/>
              </a:lnSpc>
              <a:buNone/>
            </a:pPr>
            <a:r>
              <a:rPr lang="en-US" sz="1450" b="1" dirty="0">
                <a:solidFill>
                  <a:srgbClr val="0B1E3D"/>
                </a:solidFill>
                <a:latin typeface="Arial" pitchFamily="34" charset="0"/>
                <a:ea typeface="Arial" pitchFamily="34" charset="-122"/>
                <a:cs typeface="Arial" pitchFamily="34" charset="-120"/>
              </a:rPr>
              <a:t>Shipping &amp; Payment</a:t>
            </a:r>
            <a:endParaRPr lang="en-US" sz="1450" dirty="0"/>
          </a:p>
        </p:txBody>
      </p:sp>
      <p:sp>
        <p:nvSpPr>
          <p:cNvPr id="35" name="Text 27"/>
          <p:cNvSpPr/>
          <p:nvPr/>
        </p:nvSpPr>
        <p:spPr>
          <a:xfrm>
            <a:off x="8328965" y="5212080"/>
            <a:ext cx="3112922" cy="36576"/>
          </a:xfrm>
          <a:prstGeom prst="rect">
            <a:avLst/>
          </a:prstGeom>
          <a:noFill/>
          <a:ln/>
        </p:spPr>
        <p:txBody>
          <a:bodyPr wrap="square" rtlCol="0" anchor="t"/>
          <a:lstStyle/>
          <a:p>
            <a:pPr marL="0" indent="0" algn="l">
              <a:buNone/>
            </a:pPr>
            <a:r>
              <a:rPr lang="en-US" sz="1150" dirty="0">
                <a:solidFill>
                  <a:srgbClr val="51617C"/>
                </a:solidFill>
                <a:latin typeface="Arial" pitchFamily="34" charset="0"/>
                <a:ea typeface="Arial" pitchFamily="34" charset="-122"/>
                <a:cs typeface="Arial" pitchFamily="34" charset="-120"/>
              </a:rPr>
              <a:t>Fulfillment cost &amp; payment mix</a:t>
            </a:r>
            <a:endParaRPr lang="en-US" sz="1150" dirty="0"/>
          </a:p>
        </p:txBody>
      </p:sp>
      <p:sp>
        <p:nvSpPr>
          <p:cNvPr id="36" name="Shape 28"/>
          <p:cNvSpPr/>
          <p:nvPr/>
        </p:nvSpPr>
        <p:spPr>
          <a:xfrm>
            <a:off x="548640" y="6473952"/>
            <a:ext cx="146304" cy="146304"/>
          </a:xfrm>
          <a:prstGeom prst="roundRect">
            <a:avLst>
              <a:gd name="adj" fmla="val 21875"/>
            </a:avLst>
          </a:prstGeom>
          <a:solidFill>
            <a:srgbClr val="0B1E3D"/>
          </a:solidFill>
          <a:ln/>
        </p:spPr>
      </p:sp>
      <p:sp>
        <p:nvSpPr>
          <p:cNvPr id="37" name="Shape 29"/>
          <p:cNvSpPr/>
          <p:nvPr/>
        </p:nvSpPr>
        <p:spPr>
          <a:xfrm>
            <a:off x="630936" y="6556248"/>
            <a:ext cx="68580" cy="68580"/>
          </a:xfrm>
          <a:prstGeom prst="ellipse">
            <a:avLst/>
          </a:prstGeom>
          <a:solidFill>
            <a:srgbClr val="C6540E"/>
          </a:solidFill>
          <a:ln/>
        </p:spPr>
      </p:sp>
      <p:sp>
        <p:nvSpPr>
          <p:cNvPr id="38" name="Text 30"/>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39" name="Text 31"/>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03 / 15</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PROJECT ARCHITECTURE</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From Raw OLTP Data to a Governed Dashboard</a:t>
            </a:r>
            <a:endParaRPr lang="en-US" sz="3200" dirty="0"/>
          </a:p>
        </p:txBody>
      </p:sp>
      <p:sp>
        <p:nvSpPr>
          <p:cNvPr id="6" name="Text 4"/>
          <p:cNvSpPr/>
          <p:nvPr/>
        </p:nvSpPr>
        <p:spPr>
          <a:xfrm>
            <a:off x="548640" y="1627632"/>
            <a:ext cx="9997135" cy="457200"/>
          </a:xfrm>
          <a:prstGeom prst="rect">
            <a:avLst/>
          </a:prstGeom>
          <a:noFill/>
          <a:ln/>
        </p:spPr>
        <p:txBody>
          <a:bodyPr wrap="square" rtlCol="0" anchor="t"/>
          <a:lstStyle/>
          <a:p>
            <a:pPr marL="0" indent="0" algn="l">
              <a:buNone/>
            </a:pPr>
            <a:r>
              <a:rPr lang="en-US" sz="1500" dirty="0">
                <a:solidFill>
                  <a:srgbClr val="51617C"/>
                </a:solidFill>
                <a:latin typeface="Arial" pitchFamily="34" charset="0"/>
                <a:ea typeface="Arial" pitchFamily="34" charset="-122"/>
                <a:cs typeface="Arial" pitchFamily="34" charset="-120"/>
              </a:rPr>
              <a:t>A medallion pipeline: every layer adds trust before the next one builds on it.</a:t>
            </a:r>
            <a:endParaRPr lang="en-US" sz="1500" dirty="0"/>
          </a:p>
        </p:txBody>
      </p:sp>
      <p:sp>
        <p:nvSpPr>
          <p:cNvPr id="7" name="Shape 5"/>
          <p:cNvSpPr/>
          <p:nvPr/>
        </p:nvSpPr>
        <p:spPr>
          <a:xfrm>
            <a:off x="1136874" y="2743200"/>
            <a:ext cx="713232" cy="713232"/>
          </a:xfrm>
          <a:prstGeom prst="ellipse">
            <a:avLst/>
          </a:prstGeom>
          <a:solidFill>
            <a:srgbClr val="0B1E3D"/>
          </a:solidFill>
          <a:ln/>
        </p:spPr>
      </p:sp>
      <p:pic>
        <p:nvPicPr>
          <p:cNvPr id="8" name="Image 0" descr="/home/claude/pptx_build/icons/db_bright.png"/>
          <p:cNvPicPr>
            <a:picLocks noChangeAspect="1"/>
          </p:cNvPicPr>
          <p:nvPr/>
        </p:nvPicPr>
        <p:blipFill>
          <a:blip r:embed="rId3"/>
          <a:stretch>
            <a:fillRect/>
          </a:stretch>
        </p:blipFill>
        <p:spPr>
          <a:xfrm>
            <a:off x="1315182" y="2921508"/>
            <a:ext cx="356616" cy="356616"/>
          </a:xfrm>
          <a:prstGeom prst="rect">
            <a:avLst/>
          </a:prstGeom>
        </p:spPr>
      </p:pic>
      <p:sp>
        <p:nvSpPr>
          <p:cNvPr id="9" name="Text 6"/>
          <p:cNvSpPr/>
          <p:nvPr/>
        </p:nvSpPr>
        <p:spPr>
          <a:xfrm>
            <a:off x="548640" y="3566160"/>
            <a:ext cx="1889699" cy="292608"/>
          </a:xfrm>
          <a:prstGeom prst="rect">
            <a:avLst/>
          </a:prstGeom>
          <a:noFill/>
          <a:ln/>
        </p:spPr>
        <p:txBody>
          <a:bodyPr wrap="square" rtlCol="0" anchor="t"/>
          <a:lstStyle/>
          <a:p>
            <a:pPr marL="0" indent="0" algn="ctr">
              <a:buNone/>
            </a:pPr>
            <a:r>
              <a:rPr lang="en-US" sz="1500" b="1" dirty="0">
                <a:solidFill>
                  <a:srgbClr val="0B1E3D"/>
                </a:solidFill>
                <a:latin typeface="Arial" pitchFamily="34" charset="0"/>
                <a:ea typeface="Arial" pitchFamily="34" charset="-122"/>
                <a:cs typeface="Arial" pitchFamily="34" charset="-120"/>
              </a:rPr>
              <a:t>Source Database</a:t>
            </a:r>
            <a:endParaRPr lang="en-US" sz="1500" dirty="0"/>
          </a:p>
        </p:txBody>
      </p:sp>
      <p:sp>
        <p:nvSpPr>
          <p:cNvPr id="10" name="Text 7"/>
          <p:cNvSpPr/>
          <p:nvPr/>
        </p:nvSpPr>
        <p:spPr>
          <a:xfrm>
            <a:off x="594360" y="3858768"/>
            <a:ext cx="1798259" cy="1353312"/>
          </a:xfrm>
          <a:prstGeom prst="rect">
            <a:avLst/>
          </a:prstGeom>
          <a:noFill/>
          <a:ln/>
        </p:spPr>
        <p:txBody>
          <a:bodyPr wrap="square" rtlCol="0" anchor="t"/>
          <a:lstStyle/>
          <a:p>
            <a:pPr marL="0" indent="0" algn="ctr">
              <a:buNone/>
            </a:pPr>
            <a:r>
              <a:rPr lang="en-US" sz="1050" dirty="0">
                <a:solidFill>
                  <a:srgbClr val="51617C"/>
                </a:solidFill>
                <a:latin typeface="Arial" pitchFamily="34" charset="0"/>
                <a:ea typeface="Arial" pitchFamily="34" charset="-122"/>
                <a:cs typeface="Arial" pitchFamily="34" charset="-120"/>
              </a:rPr>
              <a:t>AdventureWorks2022 — raw operational system</a:t>
            </a:r>
            <a:endParaRPr lang="en-US" sz="1050" dirty="0"/>
          </a:p>
        </p:txBody>
      </p:sp>
      <p:pic>
        <p:nvPicPr>
          <p:cNvPr id="11" name="Image 1" descr="/home/claude/pptx_build/icons/arrow_accent.png"/>
          <p:cNvPicPr>
            <a:picLocks noChangeAspect="1"/>
          </p:cNvPicPr>
          <p:nvPr/>
        </p:nvPicPr>
        <p:blipFill>
          <a:blip r:embed="rId4"/>
          <a:stretch>
            <a:fillRect/>
          </a:stretch>
        </p:blipFill>
        <p:spPr>
          <a:xfrm>
            <a:off x="2543495" y="2999232"/>
            <a:ext cx="201168" cy="201168"/>
          </a:xfrm>
          <a:prstGeom prst="rect">
            <a:avLst/>
          </a:prstGeom>
        </p:spPr>
      </p:pic>
      <p:sp>
        <p:nvSpPr>
          <p:cNvPr id="12" name="Shape 8"/>
          <p:cNvSpPr/>
          <p:nvPr/>
        </p:nvSpPr>
        <p:spPr>
          <a:xfrm>
            <a:off x="3438053" y="2743200"/>
            <a:ext cx="713232" cy="713232"/>
          </a:xfrm>
          <a:prstGeom prst="ellipse">
            <a:avLst/>
          </a:prstGeom>
          <a:solidFill>
            <a:srgbClr val="0B1E3D"/>
          </a:solidFill>
          <a:ln/>
        </p:spPr>
      </p:sp>
      <p:pic>
        <p:nvPicPr>
          <p:cNvPr id="13" name="Image 2" descr="/home/claude/pptx_build/icons/layers_bright.png"/>
          <p:cNvPicPr>
            <a:picLocks noChangeAspect="1"/>
          </p:cNvPicPr>
          <p:nvPr/>
        </p:nvPicPr>
        <p:blipFill>
          <a:blip r:embed="rId5"/>
          <a:stretch>
            <a:fillRect/>
          </a:stretch>
        </p:blipFill>
        <p:spPr>
          <a:xfrm>
            <a:off x="3616361" y="2921508"/>
            <a:ext cx="356616" cy="356616"/>
          </a:xfrm>
          <a:prstGeom prst="rect">
            <a:avLst/>
          </a:prstGeom>
        </p:spPr>
      </p:pic>
      <p:sp>
        <p:nvSpPr>
          <p:cNvPr id="14" name="Text 9"/>
          <p:cNvSpPr/>
          <p:nvPr/>
        </p:nvSpPr>
        <p:spPr>
          <a:xfrm>
            <a:off x="2849819" y="3566160"/>
            <a:ext cx="1889699" cy="292608"/>
          </a:xfrm>
          <a:prstGeom prst="rect">
            <a:avLst/>
          </a:prstGeom>
          <a:noFill/>
          <a:ln/>
        </p:spPr>
        <p:txBody>
          <a:bodyPr wrap="square" rtlCol="0" anchor="t"/>
          <a:lstStyle/>
          <a:p>
            <a:pPr marL="0" indent="0" algn="ctr">
              <a:buNone/>
            </a:pPr>
            <a:r>
              <a:rPr lang="en-US" sz="1500" b="1" dirty="0">
                <a:solidFill>
                  <a:srgbClr val="0B1E3D"/>
                </a:solidFill>
                <a:latin typeface="Arial" pitchFamily="34" charset="0"/>
                <a:ea typeface="Arial" pitchFamily="34" charset="-122"/>
                <a:cs typeface="Arial" pitchFamily="34" charset="-120"/>
              </a:rPr>
              <a:t>Bronze</a:t>
            </a:r>
            <a:endParaRPr lang="en-US" sz="1500" dirty="0"/>
          </a:p>
        </p:txBody>
      </p:sp>
      <p:sp>
        <p:nvSpPr>
          <p:cNvPr id="15" name="Text 10"/>
          <p:cNvSpPr/>
          <p:nvPr/>
        </p:nvSpPr>
        <p:spPr>
          <a:xfrm>
            <a:off x="2895539" y="3858768"/>
            <a:ext cx="1798259" cy="1353312"/>
          </a:xfrm>
          <a:prstGeom prst="rect">
            <a:avLst/>
          </a:prstGeom>
          <a:noFill/>
          <a:ln/>
        </p:spPr>
        <p:txBody>
          <a:bodyPr wrap="square" rtlCol="0" anchor="t"/>
          <a:lstStyle/>
          <a:p>
            <a:pPr marL="0" indent="0" algn="ctr">
              <a:buNone/>
            </a:pPr>
            <a:r>
              <a:rPr lang="en-US" sz="1050" dirty="0">
                <a:solidFill>
                  <a:srgbClr val="51617C"/>
                </a:solidFill>
                <a:latin typeface="Arial" pitchFamily="34" charset="0"/>
                <a:ea typeface="Arial" pitchFamily="34" charset="-122"/>
                <a:cs typeface="Arial" pitchFamily="34" charset="-120"/>
              </a:rPr>
              <a:t>Untouched raw copy, loaded as-is</a:t>
            </a:r>
            <a:endParaRPr lang="en-US" sz="1050" dirty="0"/>
          </a:p>
        </p:txBody>
      </p:sp>
      <p:pic>
        <p:nvPicPr>
          <p:cNvPr id="16" name="Image 3" descr="/home/claude/pptx_build/icons/arrow_accent.png"/>
          <p:cNvPicPr>
            <a:picLocks noChangeAspect="1"/>
          </p:cNvPicPr>
          <p:nvPr/>
        </p:nvPicPr>
        <p:blipFill>
          <a:blip r:embed="rId4"/>
          <a:stretch>
            <a:fillRect/>
          </a:stretch>
        </p:blipFill>
        <p:spPr>
          <a:xfrm>
            <a:off x="4844674" y="2999232"/>
            <a:ext cx="201168" cy="201168"/>
          </a:xfrm>
          <a:prstGeom prst="rect">
            <a:avLst/>
          </a:prstGeom>
        </p:spPr>
      </p:pic>
      <p:sp>
        <p:nvSpPr>
          <p:cNvPr id="17" name="Shape 11"/>
          <p:cNvSpPr/>
          <p:nvPr/>
        </p:nvSpPr>
        <p:spPr>
          <a:xfrm>
            <a:off x="5739232" y="2743200"/>
            <a:ext cx="713232" cy="713232"/>
          </a:xfrm>
          <a:prstGeom prst="ellipse">
            <a:avLst/>
          </a:prstGeom>
          <a:solidFill>
            <a:srgbClr val="0B1E3D"/>
          </a:solidFill>
          <a:ln/>
        </p:spPr>
      </p:sp>
      <p:pic>
        <p:nvPicPr>
          <p:cNvPr id="18" name="Image 4" descr="/home/claude/pptx_build/icons/filter_bright.png"/>
          <p:cNvPicPr>
            <a:picLocks noChangeAspect="1"/>
          </p:cNvPicPr>
          <p:nvPr/>
        </p:nvPicPr>
        <p:blipFill>
          <a:blip r:embed="rId6"/>
          <a:stretch>
            <a:fillRect/>
          </a:stretch>
        </p:blipFill>
        <p:spPr>
          <a:xfrm>
            <a:off x="5917540" y="2921508"/>
            <a:ext cx="356616" cy="356616"/>
          </a:xfrm>
          <a:prstGeom prst="rect">
            <a:avLst/>
          </a:prstGeom>
        </p:spPr>
      </p:pic>
      <p:sp>
        <p:nvSpPr>
          <p:cNvPr id="19" name="Text 12"/>
          <p:cNvSpPr/>
          <p:nvPr/>
        </p:nvSpPr>
        <p:spPr>
          <a:xfrm>
            <a:off x="5150998" y="3566160"/>
            <a:ext cx="1889699" cy="292608"/>
          </a:xfrm>
          <a:prstGeom prst="rect">
            <a:avLst/>
          </a:prstGeom>
          <a:noFill/>
          <a:ln/>
        </p:spPr>
        <p:txBody>
          <a:bodyPr wrap="square" rtlCol="0" anchor="t"/>
          <a:lstStyle/>
          <a:p>
            <a:pPr marL="0" indent="0" algn="ctr">
              <a:buNone/>
            </a:pPr>
            <a:r>
              <a:rPr lang="en-US" sz="1500" b="1" dirty="0">
                <a:solidFill>
                  <a:srgbClr val="0B1E3D"/>
                </a:solidFill>
                <a:latin typeface="Arial" pitchFamily="34" charset="0"/>
                <a:ea typeface="Arial" pitchFamily="34" charset="-122"/>
                <a:cs typeface="Arial" pitchFamily="34" charset="-120"/>
              </a:rPr>
              <a:t>Silver</a:t>
            </a:r>
            <a:endParaRPr lang="en-US" sz="1500" dirty="0"/>
          </a:p>
        </p:txBody>
      </p:sp>
      <p:sp>
        <p:nvSpPr>
          <p:cNvPr id="20" name="Text 13"/>
          <p:cNvSpPr/>
          <p:nvPr/>
        </p:nvSpPr>
        <p:spPr>
          <a:xfrm>
            <a:off x="5196718" y="3858768"/>
            <a:ext cx="1798259" cy="1353312"/>
          </a:xfrm>
          <a:prstGeom prst="rect">
            <a:avLst/>
          </a:prstGeom>
          <a:noFill/>
          <a:ln/>
        </p:spPr>
        <p:txBody>
          <a:bodyPr wrap="square" rtlCol="0" anchor="t"/>
          <a:lstStyle/>
          <a:p>
            <a:pPr marL="0" indent="0" algn="ctr">
              <a:buNone/>
            </a:pPr>
            <a:r>
              <a:rPr lang="en-US" sz="1050" dirty="0">
                <a:solidFill>
                  <a:srgbClr val="51617C"/>
                </a:solidFill>
                <a:latin typeface="Arial" pitchFamily="34" charset="0"/>
                <a:ea typeface="Arial" pitchFamily="34" charset="-122"/>
                <a:cs typeface="Arial" pitchFamily="34" charset="-120"/>
              </a:rPr>
              <a:t>Cleaned &amp; standardized, rules applied</a:t>
            </a:r>
            <a:endParaRPr lang="en-US" sz="1050" dirty="0"/>
          </a:p>
        </p:txBody>
      </p:sp>
      <p:pic>
        <p:nvPicPr>
          <p:cNvPr id="21" name="Image 5" descr="/home/claude/pptx_build/icons/arrow_accent.png"/>
          <p:cNvPicPr>
            <a:picLocks noChangeAspect="1"/>
          </p:cNvPicPr>
          <p:nvPr/>
        </p:nvPicPr>
        <p:blipFill>
          <a:blip r:embed="rId4"/>
          <a:stretch>
            <a:fillRect/>
          </a:stretch>
        </p:blipFill>
        <p:spPr>
          <a:xfrm>
            <a:off x="7145853" y="2999232"/>
            <a:ext cx="201168" cy="201168"/>
          </a:xfrm>
          <a:prstGeom prst="rect">
            <a:avLst/>
          </a:prstGeom>
        </p:spPr>
      </p:pic>
      <p:sp>
        <p:nvSpPr>
          <p:cNvPr id="22" name="Shape 14"/>
          <p:cNvSpPr/>
          <p:nvPr/>
        </p:nvSpPr>
        <p:spPr>
          <a:xfrm>
            <a:off x="8040411" y="2743200"/>
            <a:ext cx="713232" cy="713232"/>
          </a:xfrm>
          <a:prstGeom prst="ellipse">
            <a:avLst/>
          </a:prstGeom>
          <a:solidFill>
            <a:srgbClr val="0B1E3D"/>
          </a:solidFill>
          <a:ln/>
        </p:spPr>
      </p:sp>
      <p:pic>
        <p:nvPicPr>
          <p:cNvPr id="23" name="Image 6" descr="/home/claude/pptx_build/icons/star_bright.png"/>
          <p:cNvPicPr>
            <a:picLocks noChangeAspect="1"/>
          </p:cNvPicPr>
          <p:nvPr/>
        </p:nvPicPr>
        <p:blipFill>
          <a:blip r:embed="rId7"/>
          <a:stretch>
            <a:fillRect/>
          </a:stretch>
        </p:blipFill>
        <p:spPr>
          <a:xfrm>
            <a:off x="8218719" y="2921508"/>
            <a:ext cx="356616" cy="356616"/>
          </a:xfrm>
          <a:prstGeom prst="rect">
            <a:avLst/>
          </a:prstGeom>
        </p:spPr>
      </p:pic>
      <p:sp>
        <p:nvSpPr>
          <p:cNvPr id="24" name="Text 15"/>
          <p:cNvSpPr/>
          <p:nvPr/>
        </p:nvSpPr>
        <p:spPr>
          <a:xfrm>
            <a:off x="7452177" y="3566160"/>
            <a:ext cx="1889699" cy="292608"/>
          </a:xfrm>
          <a:prstGeom prst="rect">
            <a:avLst/>
          </a:prstGeom>
          <a:noFill/>
          <a:ln/>
        </p:spPr>
        <p:txBody>
          <a:bodyPr wrap="square" rtlCol="0" anchor="t"/>
          <a:lstStyle/>
          <a:p>
            <a:pPr marL="0" indent="0" algn="ctr">
              <a:buNone/>
            </a:pPr>
            <a:r>
              <a:rPr lang="en-US" sz="1500" b="1" dirty="0">
                <a:solidFill>
                  <a:srgbClr val="0B1E3D"/>
                </a:solidFill>
                <a:latin typeface="Arial" pitchFamily="34" charset="0"/>
                <a:ea typeface="Arial" pitchFamily="34" charset="-122"/>
                <a:cs typeface="Arial" pitchFamily="34" charset="-120"/>
              </a:rPr>
              <a:t>Gold</a:t>
            </a:r>
            <a:endParaRPr lang="en-US" sz="1500" dirty="0"/>
          </a:p>
        </p:txBody>
      </p:sp>
      <p:sp>
        <p:nvSpPr>
          <p:cNvPr id="25" name="Text 16"/>
          <p:cNvSpPr/>
          <p:nvPr/>
        </p:nvSpPr>
        <p:spPr>
          <a:xfrm>
            <a:off x="7497897" y="3858768"/>
            <a:ext cx="1798259" cy="1353312"/>
          </a:xfrm>
          <a:prstGeom prst="rect">
            <a:avLst/>
          </a:prstGeom>
          <a:noFill/>
          <a:ln/>
        </p:spPr>
        <p:txBody>
          <a:bodyPr wrap="square" rtlCol="0" anchor="t"/>
          <a:lstStyle/>
          <a:p>
            <a:pPr marL="0" indent="0" algn="ctr">
              <a:buNone/>
            </a:pPr>
            <a:r>
              <a:rPr lang="en-US" sz="1050" dirty="0">
                <a:solidFill>
                  <a:srgbClr val="51617C"/>
                </a:solidFill>
                <a:latin typeface="Arial" pitchFamily="34" charset="0"/>
                <a:ea typeface="Arial" pitchFamily="34" charset="-122"/>
                <a:cs typeface="Arial" pitchFamily="34" charset="-120"/>
              </a:rPr>
              <a:t>Star schema — fact &amp; dimension views</a:t>
            </a:r>
            <a:endParaRPr lang="en-US" sz="1050" dirty="0"/>
          </a:p>
        </p:txBody>
      </p:sp>
      <p:pic>
        <p:nvPicPr>
          <p:cNvPr id="26" name="Image 7" descr="/home/claude/pptx_build/icons/arrow_accent.png"/>
          <p:cNvPicPr>
            <a:picLocks noChangeAspect="1"/>
          </p:cNvPicPr>
          <p:nvPr/>
        </p:nvPicPr>
        <p:blipFill>
          <a:blip r:embed="rId4"/>
          <a:stretch>
            <a:fillRect/>
          </a:stretch>
        </p:blipFill>
        <p:spPr>
          <a:xfrm>
            <a:off x="9447032" y="2999232"/>
            <a:ext cx="201168" cy="201168"/>
          </a:xfrm>
          <a:prstGeom prst="rect">
            <a:avLst/>
          </a:prstGeom>
        </p:spPr>
      </p:pic>
      <p:sp>
        <p:nvSpPr>
          <p:cNvPr id="27" name="Shape 17"/>
          <p:cNvSpPr/>
          <p:nvPr/>
        </p:nvSpPr>
        <p:spPr>
          <a:xfrm>
            <a:off x="10341590" y="2743200"/>
            <a:ext cx="713232" cy="713232"/>
          </a:xfrm>
          <a:prstGeom prst="ellipse">
            <a:avLst/>
          </a:prstGeom>
          <a:solidFill>
            <a:srgbClr val="0B1E3D"/>
          </a:solidFill>
          <a:ln/>
        </p:spPr>
      </p:sp>
      <p:pic>
        <p:nvPicPr>
          <p:cNvPr id="28" name="Image 8" descr="/home/claude/pptx_build/icons/monitor_bright.png"/>
          <p:cNvPicPr>
            <a:picLocks noChangeAspect="1"/>
          </p:cNvPicPr>
          <p:nvPr/>
        </p:nvPicPr>
        <p:blipFill>
          <a:blip r:embed="rId8"/>
          <a:stretch>
            <a:fillRect/>
          </a:stretch>
        </p:blipFill>
        <p:spPr>
          <a:xfrm>
            <a:off x="10519898" y="2921508"/>
            <a:ext cx="356616" cy="356616"/>
          </a:xfrm>
          <a:prstGeom prst="rect">
            <a:avLst/>
          </a:prstGeom>
        </p:spPr>
      </p:pic>
      <p:sp>
        <p:nvSpPr>
          <p:cNvPr id="29" name="Text 18"/>
          <p:cNvSpPr/>
          <p:nvPr/>
        </p:nvSpPr>
        <p:spPr>
          <a:xfrm>
            <a:off x="9753356" y="3566160"/>
            <a:ext cx="1889699" cy="292608"/>
          </a:xfrm>
          <a:prstGeom prst="rect">
            <a:avLst/>
          </a:prstGeom>
          <a:noFill/>
          <a:ln/>
        </p:spPr>
        <p:txBody>
          <a:bodyPr wrap="square" rtlCol="0" anchor="t"/>
          <a:lstStyle/>
          <a:p>
            <a:pPr marL="0" indent="0" algn="ctr">
              <a:buNone/>
            </a:pPr>
            <a:r>
              <a:rPr lang="en-US" sz="1500" b="1" dirty="0">
                <a:solidFill>
                  <a:srgbClr val="0B1E3D"/>
                </a:solidFill>
                <a:latin typeface="Arial" pitchFamily="34" charset="0"/>
                <a:ea typeface="Arial" pitchFamily="34" charset="-122"/>
                <a:cs typeface="Arial" pitchFamily="34" charset="-120"/>
              </a:rPr>
              <a:t>Power BI</a:t>
            </a:r>
            <a:endParaRPr lang="en-US" sz="1500" dirty="0"/>
          </a:p>
        </p:txBody>
      </p:sp>
      <p:sp>
        <p:nvSpPr>
          <p:cNvPr id="30" name="Text 19"/>
          <p:cNvSpPr/>
          <p:nvPr/>
        </p:nvSpPr>
        <p:spPr>
          <a:xfrm>
            <a:off x="9799076" y="3858768"/>
            <a:ext cx="1798259" cy="1353312"/>
          </a:xfrm>
          <a:prstGeom prst="rect">
            <a:avLst/>
          </a:prstGeom>
          <a:noFill/>
          <a:ln/>
        </p:spPr>
        <p:txBody>
          <a:bodyPr wrap="square" rtlCol="0" anchor="t"/>
          <a:lstStyle/>
          <a:p>
            <a:pPr marL="0" indent="0" algn="ctr">
              <a:buNone/>
            </a:pPr>
            <a:r>
              <a:rPr lang="en-US" sz="1050" dirty="0">
                <a:solidFill>
                  <a:srgbClr val="51617C"/>
                </a:solidFill>
                <a:latin typeface="Arial" pitchFamily="34" charset="0"/>
                <a:ea typeface="Arial" pitchFamily="34" charset="-122"/>
                <a:cs typeface="Arial" pitchFamily="34" charset="-120"/>
              </a:rPr>
              <a:t>Governed, self-service dashboard</a:t>
            </a:r>
            <a:endParaRPr lang="en-US" sz="1050" dirty="0"/>
          </a:p>
        </p:txBody>
      </p:sp>
      <p:sp>
        <p:nvSpPr>
          <p:cNvPr id="31" name="Shape 20"/>
          <p:cNvSpPr/>
          <p:nvPr/>
        </p:nvSpPr>
        <p:spPr>
          <a:xfrm>
            <a:off x="548640" y="6473952"/>
            <a:ext cx="146304" cy="146304"/>
          </a:xfrm>
          <a:prstGeom prst="roundRect">
            <a:avLst>
              <a:gd name="adj" fmla="val 21875"/>
            </a:avLst>
          </a:prstGeom>
          <a:solidFill>
            <a:srgbClr val="0B1E3D"/>
          </a:solidFill>
          <a:ln/>
        </p:spPr>
      </p:sp>
      <p:sp>
        <p:nvSpPr>
          <p:cNvPr id="32" name="Shape 21"/>
          <p:cNvSpPr/>
          <p:nvPr/>
        </p:nvSpPr>
        <p:spPr>
          <a:xfrm>
            <a:off x="630936" y="6556248"/>
            <a:ext cx="68580" cy="68580"/>
          </a:xfrm>
          <a:prstGeom prst="ellipse">
            <a:avLst/>
          </a:prstGeom>
          <a:solidFill>
            <a:srgbClr val="C6540E"/>
          </a:solidFill>
          <a:ln/>
        </p:spPr>
      </p:sp>
      <p:sp>
        <p:nvSpPr>
          <p:cNvPr id="33" name="Text 22"/>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34" name="Text 23"/>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04 / 15</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05</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DATA PIPELINE</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Six Steps From Server to Screen</a:t>
            </a:r>
            <a:endParaRPr lang="en-US" sz="3200" dirty="0"/>
          </a:p>
        </p:txBody>
      </p:sp>
      <p:sp>
        <p:nvSpPr>
          <p:cNvPr id="6" name="Text 4"/>
          <p:cNvSpPr/>
          <p:nvPr/>
        </p:nvSpPr>
        <p:spPr>
          <a:xfrm>
            <a:off x="548640" y="1627632"/>
            <a:ext cx="9997135" cy="457200"/>
          </a:xfrm>
          <a:prstGeom prst="rect">
            <a:avLst/>
          </a:prstGeom>
          <a:noFill/>
          <a:ln/>
        </p:spPr>
        <p:txBody>
          <a:bodyPr wrap="square" rtlCol="0" anchor="t"/>
          <a:lstStyle/>
          <a:p>
            <a:pPr marL="0" indent="0" algn="l">
              <a:buNone/>
            </a:pPr>
            <a:r>
              <a:rPr lang="en-US" sz="1500" dirty="0">
                <a:solidFill>
                  <a:srgbClr val="51617C"/>
                </a:solidFill>
                <a:latin typeface="Arial" pitchFamily="34" charset="0"/>
                <a:ea typeface="Arial" pitchFamily="34" charset="-122"/>
                <a:cs typeface="Arial" pitchFamily="34" charset="-120"/>
              </a:rPr>
              <a:t>The actual workflow behind the architecture — tools and process, not code.</a:t>
            </a:r>
            <a:endParaRPr lang="en-US" sz="1500" dirty="0"/>
          </a:p>
        </p:txBody>
      </p:sp>
      <p:sp>
        <p:nvSpPr>
          <p:cNvPr id="7" name="Shape 5"/>
          <p:cNvSpPr/>
          <p:nvPr/>
        </p:nvSpPr>
        <p:spPr>
          <a:xfrm>
            <a:off x="1067791" y="2743200"/>
            <a:ext cx="566928" cy="566928"/>
          </a:xfrm>
          <a:prstGeom prst="ellipse">
            <a:avLst/>
          </a:prstGeom>
          <a:solidFill>
            <a:srgbClr val="0B1E3D"/>
          </a:solidFill>
          <a:ln/>
        </p:spPr>
      </p:sp>
      <p:pic>
        <p:nvPicPr>
          <p:cNvPr id="8" name="Image 0" descr="/home/claude/pptx_build/icons/db_bright.png"/>
          <p:cNvPicPr>
            <a:picLocks noChangeAspect="1"/>
          </p:cNvPicPr>
          <p:nvPr/>
        </p:nvPicPr>
        <p:blipFill>
          <a:blip r:embed="rId3"/>
          <a:stretch>
            <a:fillRect/>
          </a:stretch>
        </p:blipFill>
        <p:spPr>
          <a:xfrm>
            <a:off x="1209523" y="2884932"/>
            <a:ext cx="283464" cy="283464"/>
          </a:xfrm>
          <a:prstGeom prst="rect">
            <a:avLst/>
          </a:prstGeom>
        </p:spPr>
      </p:pic>
      <p:sp>
        <p:nvSpPr>
          <p:cNvPr id="9" name="Text 6"/>
          <p:cNvSpPr/>
          <p:nvPr/>
        </p:nvSpPr>
        <p:spPr>
          <a:xfrm>
            <a:off x="548640" y="3419856"/>
            <a:ext cx="1605229" cy="292608"/>
          </a:xfrm>
          <a:prstGeom prst="rect">
            <a:avLst/>
          </a:prstGeom>
          <a:noFill/>
          <a:ln/>
        </p:spPr>
        <p:txBody>
          <a:bodyPr wrap="square" rtlCol="0" anchor="t"/>
          <a:lstStyle/>
          <a:p>
            <a:pPr marL="0" indent="0" algn="ctr">
              <a:buNone/>
            </a:pPr>
            <a:r>
              <a:rPr lang="en-US" sz="1300" b="1" dirty="0">
                <a:solidFill>
                  <a:srgbClr val="0B1E3D"/>
                </a:solidFill>
                <a:latin typeface="Arial" pitchFamily="34" charset="0"/>
                <a:ea typeface="Arial" pitchFamily="34" charset="-122"/>
                <a:cs typeface="Arial" pitchFamily="34" charset="-120"/>
              </a:rPr>
              <a:t>SQL Server</a:t>
            </a:r>
            <a:endParaRPr lang="en-US" sz="1300" dirty="0"/>
          </a:p>
        </p:txBody>
      </p:sp>
      <p:sp>
        <p:nvSpPr>
          <p:cNvPr id="10" name="Text 7"/>
          <p:cNvSpPr/>
          <p:nvPr/>
        </p:nvSpPr>
        <p:spPr>
          <a:xfrm>
            <a:off x="594360" y="3712464"/>
            <a:ext cx="1513789" cy="1408176"/>
          </a:xfrm>
          <a:prstGeom prst="rect">
            <a:avLst/>
          </a:prstGeom>
          <a:noFill/>
          <a:ln/>
        </p:spPr>
        <p:txBody>
          <a:bodyPr wrap="square" rtlCol="0" anchor="t"/>
          <a:lstStyle/>
          <a:p>
            <a:pPr marL="0" indent="0" algn="ctr">
              <a:buNone/>
            </a:pPr>
            <a:r>
              <a:rPr lang="en-US" sz="1000" dirty="0">
                <a:solidFill>
                  <a:srgbClr val="51617C"/>
                </a:solidFill>
                <a:latin typeface="Arial" pitchFamily="34" charset="0"/>
                <a:ea typeface="Arial" pitchFamily="34" charset="-122"/>
                <a:cs typeface="Arial" pitchFamily="34" charset="-120"/>
              </a:rPr>
              <a:t>Hosts the warehouse</a:t>
            </a:r>
            <a:endParaRPr lang="en-US" sz="1000" dirty="0"/>
          </a:p>
        </p:txBody>
      </p:sp>
      <p:pic>
        <p:nvPicPr>
          <p:cNvPr id="11" name="Image 1" descr="/home/claude/pptx_build/icons/arrow_accent.png"/>
          <p:cNvPicPr>
            <a:picLocks noChangeAspect="1"/>
          </p:cNvPicPr>
          <p:nvPr/>
        </p:nvPicPr>
        <p:blipFill>
          <a:blip r:embed="rId4"/>
          <a:stretch>
            <a:fillRect/>
          </a:stretch>
        </p:blipFill>
        <p:spPr>
          <a:xfrm>
            <a:off x="2199589" y="2926080"/>
            <a:ext cx="201168" cy="201168"/>
          </a:xfrm>
          <a:prstGeom prst="rect">
            <a:avLst/>
          </a:prstGeom>
        </p:spPr>
      </p:pic>
      <p:sp>
        <p:nvSpPr>
          <p:cNvPr id="12" name="Shape 8"/>
          <p:cNvSpPr/>
          <p:nvPr/>
        </p:nvSpPr>
        <p:spPr>
          <a:xfrm>
            <a:off x="2965628" y="2743200"/>
            <a:ext cx="566928" cy="566928"/>
          </a:xfrm>
          <a:prstGeom prst="ellipse">
            <a:avLst/>
          </a:prstGeom>
          <a:solidFill>
            <a:srgbClr val="0B1E3D"/>
          </a:solidFill>
          <a:ln/>
        </p:spPr>
      </p:sp>
      <p:pic>
        <p:nvPicPr>
          <p:cNvPr id="13" name="Image 2" descr="/home/claude/pptx_build/icons/gear_bright.png"/>
          <p:cNvPicPr>
            <a:picLocks noChangeAspect="1"/>
          </p:cNvPicPr>
          <p:nvPr/>
        </p:nvPicPr>
        <p:blipFill>
          <a:blip r:embed="rId5"/>
          <a:stretch>
            <a:fillRect/>
          </a:stretch>
        </p:blipFill>
        <p:spPr>
          <a:xfrm>
            <a:off x="3107360" y="2884932"/>
            <a:ext cx="283464" cy="283464"/>
          </a:xfrm>
          <a:prstGeom prst="rect">
            <a:avLst/>
          </a:prstGeom>
        </p:spPr>
      </p:pic>
      <p:sp>
        <p:nvSpPr>
          <p:cNvPr id="14" name="Text 9"/>
          <p:cNvSpPr/>
          <p:nvPr/>
        </p:nvSpPr>
        <p:spPr>
          <a:xfrm>
            <a:off x="2446477" y="3419856"/>
            <a:ext cx="1605229" cy="292608"/>
          </a:xfrm>
          <a:prstGeom prst="rect">
            <a:avLst/>
          </a:prstGeom>
          <a:noFill/>
          <a:ln/>
        </p:spPr>
        <p:txBody>
          <a:bodyPr wrap="square" rtlCol="0" anchor="t"/>
          <a:lstStyle/>
          <a:p>
            <a:pPr marL="0" indent="0" algn="ctr">
              <a:buNone/>
            </a:pPr>
            <a:r>
              <a:rPr lang="en-US" sz="1300" b="1" dirty="0">
                <a:solidFill>
                  <a:srgbClr val="0B1E3D"/>
                </a:solidFill>
                <a:latin typeface="Arial" pitchFamily="34" charset="0"/>
                <a:ea typeface="Arial" pitchFamily="34" charset="-122"/>
                <a:cs typeface="Arial" pitchFamily="34" charset="-120"/>
              </a:rPr>
              <a:t>ETL Process</a:t>
            </a:r>
            <a:endParaRPr lang="en-US" sz="1300" dirty="0"/>
          </a:p>
        </p:txBody>
      </p:sp>
      <p:sp>
        <p:nvSpPr>
          <p:cNvPr id="15" name="Text 10"/>
          <p:cNvSpPr/>
          <p:nvPr/>
        </p:nvSpPr>
        <p:spPr>
          <a:xfrm>
            <a:off x="2492197" y="3712464"/>
            <a:ext cx="1513789" cy="1408176"/>
          </a:xfrm>
          <a:prstGeom prst="rect">
            <a:avLst/>
          </a:prstGeom>
          <a:noFill/>
          <a:ln/>
        </p:spPr>
        <p:txBody>
          <a:bodyPr wrap="square" rtlCol="0" anchor="t"/>
          <a:lstStyle/>
          <a:p>
            <a:pPr marL="0" indent="0" algn="ctr">
              <a:buNone/>
            </a:pPr>
            <a:r>
              <a:rPr lang="en-US" sz="1000" dirty="0">
                <a:solidFill>
                  <a:srgbClr val="51617C"/>
                </a:solidFill>
                <a:latin typeface="Arial" pitchFamily="34" charset="0"/>
                <a:ea typeface="Arial" pitchFamily="34" charset="-122"/>
                <a:cs typeface="Arial" pitchFamily="34" charset="-120"/>
              </a:rPr>
              <a:t>Extracts, transforms, loads</a:t>
            </a:r>
            <a:endParaRPr lang="en-US" sz="1000" dirty="0"/>
          </a:p>
        </p:txBody>
      </p:sp>
      <p:pic>
        <p:nvPicPr>
          <p:cNvPr id="16" name="Image 3" descr="/home/claude/pptx_build/icons/arrow_accent.png"/>
          <p:cNvPicPr>
            <a:picLocks noChangeAspect="1"/>
          </p:cNvPicPr>
          <p:nvPr/>
        </p:nvPicPr>
        <p:blipFill>
          <a:blip r:embed="rId4"/>
          <a:stretch>
            <a:fillRect/>
          </a:stretch>
        </p:blipFill>
        <p:spPr>
          <a:xfrm>
            <a:off x="4097426" y="2926080"/>
            <a:ext cx="201168" cy="201168"/>
          </a:xfrm>
          <a:prstGeom prst="rect">
            <a:avLst/>
          </a:prstGeom>
        </p:spPr>
      </p:pic>
      <p:sp>
        <p:nvSpPr>
          <p:cNvPr id="17" name="Shape 11"/>
          <p:cNvSpPr/>
          <p:nvPr/>
        </p:nvSpPr>
        <p:spPr>
          <a:xfrm>
            <a:off x="4863465" y="2743200"/>
            <a:ext cx="566928" cy="566928"/>
          </a:xfrm>
          <a:prstGeom prst="ellipse">
            <a:avLst/>
          </a:prstGeom>
          <a:solidFill>
            <a:srgbClr val="0B1E3D"/>
          </a:solidFill>
          <a:ln/>
        </p:spPr>
      </p:sp>
      <p:pic>
        <p:nvPicPr>
          <p:cNvPr id="18" name="Image 4" descr="/home/claude/pptx_build/icons/chart_bright.png"/>
          <p:cNvPicPr>
            <a:picLocks noChangeAspect="1"/>
          </p:cNvPicPr>
          <p:nvPr/>
        </p:nvPicPr>
        <p:blipFill>
          <a:blip r:embed="rId6"/>
          <a:stretch>
            <a:fillRect/>
          </a:stretch>
        </p:blipFill>
        <p:spPr>
          <a:xfrm>
            <a:off x="5005197" y="2884932"/>
            <a:ext cx="283464" cy="283464"/>
          </a:xfrm>
          <a:prstGeom prst="rect">
            <a:avLst/>
          </a:prstGeom>
        </p:spPr>
      </p:pic>
      <p:sp>
        <p:nvSpPr>
          <p:cNvPr id="19" name="Text 12"/>
          <p:cNvSpPr/>
          <p:nvPr/>
        </p:nvSpPr>
        <p:spPr>
          <a:xfrm>
            <a:off x="4344314" y="3419856"/>
            <a:ext cx="1605229" cy="292608"/>
          </a:xfrm>
          <a:prstGeom prst="rect">
            <a:avLst/>
          </a:prstGeom>
          <a:noFill/>
          <a:ln/>
        </p:spPr>
        <p:txBody>
          <a:bodyPr wrap="square" rtlCol="0" anchor="t"/>
          <a:lstStyle/>
          <a:p>
            <a:pPr marL="0" indent="0" algn="ctr">
              <a:buNone/>
            </a:pPr>
            <a:r>
              <a:rPr lang="en-US" sz="1300" b="1" dirty="0">
                <a:solidFill>
                  <a:srgbClr val="0B1E3D"/>
                </a:solidFill>
                <a:latin typeface="Arial" pitchFamily="34" charset="0"/>
                <a:ea typeface="Arial" pitchFamily="34" charset="-122"/>
                <a:cs typeface="Arial" pitchFamily="34" charset="-120"/>
              </a:rPr>
              <a:t>Data Profiling</a:t>
            </a:r>
            <a:endParaRPr lang="en-US" sz="1300" dirty="0"/>
          </a:p>
        </p:txBody>
      </p:sp>
      <p:sp>
        <p:nvSpPr>
          <p:cNvPr id="20" name="Text 13"/>
          <p:cNvSpPr/>
          <p:nvPr/>
        </p:nvSpPr>
        <p:spPr>
          <a:xfrm>
            <a:off x="4390034" y="3712464"/>
            <a:ext cx="1513789" cy="1408176"/>
          </a:xfrm>
          <a:prstGeom prst="rect">
            <a:avLst/>
          </a:prstGeom>
          <a:noFill/>
          <a:ln/>
        </p:spPr>
        <p:txBody>
          <a:bodyPr wrap="square" rtlCol="0" anchor="t"/>
          <a:lstStyle/>
          <a:p>
            <a:pPr marL="0" indent="0" algn="ctr">
              <a:buNone/>
            </a:pPr>
            <a:r>
              <a:rPr lang="en-US" sz="1000" dirty="0">
                <a:solidFill>
                  <a:srgbClr val="51617C"/>
                </a:solidFill>
                <a:latin typeface="Arial" pitchFamily="34" charset="0"/>
                <a:ea typeface="Arial" pitchFamily="34" charset="-122"/>
                <a:cs typeface="Arial" pitchFamily="34" charset="-120"/>
              </a:rPr>
              <a:t>Tests quality first</a:t>
            </a:r>
            <a:endParaRPr lang="en-US" sz="1000" dirty="0"/>
          </a:p>
        </p:txBody>
      </p:sp>
      <p:pic>
        <p:nvPicPr>
          <p:cNvPr id="21" name="Image 5" descr="/home/claude/pptx_build/icons/arrow_accent.png"/>
          <p:cNvPicPr>
            <a:picLocks noChangeAspect="1"/>
          </p:cNvPicPr>
          <p:nvPr/>
        </p:nvPicPr>
        <p:blipFill>
          <a:blip r:embed="rId4"/>
          <a:stretch>
            <a:fillRect/>
          </a:stretch>
        </p:blipFill>
        <p:spPr>
          <a:xfrm>
            <a:off x="5995264" y="2926080"/>
            <a:ext cx="201168" cy="201168"/>
          </a:xfrm>
          <a:prstGeom prst="rect">
            <a:avLst/>
          </a:prstGeom>
        </p:spPr>
      </p:pic>
      <p:sp>
        <p:nvSpPr>
          <p:cNvPr id="22" name="Shape 14"/>
          <p:cNvSpPr/>
          <p:nvPr/>
        </p:nvSpPr>
        <p:spPr>
          <a:xfrm>
            <a:off x="6761302" y="2743200"/>
            <a:ext cx="566928" cy="566928"/>
          </a:xfrm>
          <a:prstGeom prst="ellipse">
            <a:avLst/>
          </a:prstGeom>
          <a:solidFill>
            <a:srgbClr val="0B1E3D"/>
          </a:solidFill>
          <a:ln/>
        </p:spPr>
      </p:sp>
      <p:pic>
        <p:nvPicPr>
          <p:cNvPr id="23" name="Image 6" descr="/home/claude/pptx_build/icons/filter_bright.png"/>
          <p:cNvPicPr>
            <a:picLocks noChangeAspect="1"/>
          </p:cNvPicPr>
          <p:nvPr/>
        </p:nvPicPr>
        <p:blipFill>
          <a:blip r:embed="rId7"/>
          <a:stretch>
            <a:fillRect/>
          </a:stretch>
        </p:blipFill>
        <p:spPr>
          <a:xfrm>
            <a:off x="6903034" y="2884932"/>
            <a:ext cx="283464" cy="283464"/>
          </a:xfrm>
          <a:prstGeom prst="rect">
            <a:avLst/>
          </a:prstGeom>
        </p:spPr>
      </p:pic>
      <p:sp>
        <p:nvSpPr>
          <p:cNvPr id="24" name="Text 15"/>
          <p:cNvSpPr/>
          <p:nvPr/>
        </p:nvSpPr>
        <p:spPr>
          <a:xfrm>
            <a:off x="6242152" y="3419856"/>
            <a:ext cx="1605229" cy="292608"/>
          </a:xfrm>
          <a:prstGeom prst="rect">
            <a:avLst/>
          </a:prstGeom>
          <a:noFill/>
          <a:ln/>
        </p:spPr>
        <p:txBody>
          <a:bodyPr wrap="square" rtlCol="0" anchor="t"/>
          <a:lstStyle/>
          <a:p>
            <a:pPr marL="0" indent="0" algn="ctr">
              <a:buNone/>
            </a:pPr>
            <a:r>
              <a:rPr lang="en-US" sz="1300" b="1" dirty="0">
                <a:solidFill>
                  <a:srgbClr val="0B1E3D"/>
                </a:solidFill>
                <a:latin typeface="Arial" pitchFamily="34" charset="0"/>
                <a:ea typeface="Arial" pitchFamily="34" charset="-122"/>
                <a:cs typeface="Arial" pitchFamily="34" charset="-120"/>
              </a:rPr>
              <a:t>Data Cleaning</a:t>
            </a:r>
            <a:endParaRPr lang="en-US" sz="1300" dirty="0"/>
          </a:p>
        </p:txBody>
      </p:sp>
      <p:sp>
        <p:nvSpPr>
          <p:cNvPr id="25" name="Text 16"/>
          <p:cNvSpPr/>
          <p:nvPr/>
        </p:nvSpPr>
        <p:spPr>
          <a:xfrm>
            <a:off x="6287872" y="3712464"/>
            <a:ext cx="1513789" cy="1408176"/>
          </a:xfrm>
          <a:prstGeom prst="rect">
            <a:avLst/>
          </a:prstGeom>
          <a:noFill/>
          <a:ln/>
        </p:spPr>
        <p:txBody>
          <a:bodyPr wrap="square" rtlCol="0" anchor="t"/>
          <a:lstStyle/>
          <a:p>
            <a:pPr marL="0" indent="0" algn="ctr">
              <a:buNone/>
            </a:pPr>
            <a:r>
              <a:rPr lang="en-US" sz="1000" dirty="0">
                <a:solidFill>
                  <a:srgbClr val="51617C"/>
                </a:solidFill>
                <a:latin typeface="Arial" pitchFamily="34" charset="0"/>
                <a:ea typeface="Arial" pitchFamily="34" charset="-122"/>
                <a:cs typeface="Arial" pitchFamily="34" charset="-120"/>
              </a:rPr>
              <a:t>Fixes based on findings</a:t>
            </a:r>
            <a:endParaRPr lang="en-US" sz="1000" dirty="0"/>
          </a:p>
        </p:txBody>
      </p:sp>
      <p:pic>
        <p:nvPicPr>
          <p:cNvPr id="26" name="Image 7" descr="/home/claude/pptx_build/icons/arrow_accent.png"/>
          <p:cNvPicPr>
            <a:picLocks noChangeAspect="1"/>
          </p:cNvPicPr>
          <p:nvPr/>
        </p:nvPicPr>
        <p:blipFill>
          <a:blip r:embed="rId4"/>
          <a:stretch>
            <a:fillRect/>
          </a:stretch>
        </p:blipFill>
        <p:spPr>
          <a:xfrm>
            <a:off x="7893101" y="2926080"/>
            <a:ext cx="201168" cy="201168"/>
          </a:xfrm>
          <a:prstGeom prst="rect">
            <a:avLst/>
          </a:prstGeom>
        </p:spPr>
      </p:pic>
      <p:sp>
        <p:nvSpPr>
          <p:cNvPr id="27" name="Shape 17"/>
          <p:cNvSpPr/>
          <p:nvPr/>
        </p:nvSpPr>
        <p:spPr>
          <a:xfrm>
            <a:off x="8659139" y="2743200"/>
            <a:ext cx="566928" cy="566928"/>
          </a:xfrm>
          <a:prstGeom prst="ellipse">
            <a:avLst/>
          </a:prstGeom>
          <a:solidFill>
            <a:srgbClr val="0B1E3D"/>
          </a:solidFill>
          <a:ln/>
        </p:spPr>
      </p:sp>
      <p:pic>
        <p:nvPicPr>
          <p:cNvPr id="28" name="Image 8" descr="/home/claude/pptx_build/icons/star_bright.png"/>
          <p:cNvPicPr>
            <a:picLocks noChangeAspect="1"/>
          </p:cNvPicPr>
          <p:nvPr/>
        </p:nvPicPr>
        <p:blipFill>
          <a:blip r:embed="rId8"/>
          <a:stretch>
            <a:fillRect/>
          </a:stretch>
        </p:blipFill>
        <p:spPr>
          <a:xfrm>
            <a:off x="8800871" y="2884932"/>
            <a:ext cx="283464" cy="283464"/>
          </a:xfrm>
          <a:prstGeom prst="rect">
            <a:avLst/>
          </a:prstGeom>
        </p:spPr>
      </p:pic>
      <p:sp>
        <p:nvSpPr>
          <p:cNvPr id="29" name="Text 18"/>
          <p:cNvSpPr/>
          <p:nvPr/>
        </p:nvSpPr>
        <p:spPr>
          <a:xfrm>
            <a:off x="8139989" y="3419856"/>
            <a:ext cx="1605229" cy="292608"/>
          </a:xfrm>
          <a:prstGeom prst="rect">
            <a:avLst/>
          </a:prstGeom>
          <a:noFill/>
          <a:ln/>
        </p:spPr>
        <p:txBody>
          <a:bodyPr wrap="square" rtlCol="0" anchor="t"/>
          <a:lstStyle/>
          <a:p>
            <a:pPr marL="0" indent="0" algn="ctr">
              <a:buNone/>
            </a:pPr>
            <a:r>
              <a:rPr lang="en-US" sz="1300" b="1" dirty="0">
                <a:solidFill>
                  <a:srgbClr val="0B1E3D"/>
                </a:solidFill>
                <a:latin typeface="Arial" pitchFamily="34" charset="0"/>
                <a:ea typeface="Arial" pitchFamily="34" charset="-122"/>
                <a:cs typeface="Arial" pitchFamily="34" charset="-120"/>
              </a:rPr>
              <a:t>Data Modeling</a:t>
            </a:r>
            <a:endParaRPr lang="en-US" sz="1300" dirty="0"/>
          </a:p>
        </p:txBody>
      </p:sp>
      <p:sp>
        <p:nvSpPr>
          <p:cNvPr id="30" name="Text 19"/>
          <p:cNvSpPr/>
          <p:nvPr/>
        </p:nvSpPr>
        <p:spPr>
          <a:xfrm>
            <a:off x="8185709" y="3712464"/>
            <a:ext cx="1513789" cy="1408176"/>
          </a:xfrm>
          <a:prstGeom prst="rect">
            <a:avLst/>
          </a:prstGeom>
          <a:noFill/>
          <a:ln/>
        </p:spPr>
        <p:txBody>
          <a:bodyPr wrap="square" rtlCol="0" anchor="t"/>
          <a:lstStyle/>
          <a:p>
            <a:pPr marL="0" indent="0" algn="ctr">
              <a:buNone/>
            </a:pPr>
            <a:r>
              <a:rPr lang="en-US" sz="1000" dirty="0">
                <a:solidFill>
                  <a:srgbClr val="51617C"/>
                </a:solidFill>
                <a:latin typeface="Arial" pitchFamily="34" charset="0"/>
                <a:ea typeface="Arial" pitchFamily="34" charset="-122"/>
                <a:cs typeface="Arial" pitchFamily="34" charset="-120"/>
              </a:rPr>
              <a:t>Builds the star schema</a:t>
            </a:r>
            <a:endParaRPr lang="en-US" sz="1000" dirty="0"/>
          </a:p>
        </p:txBody>
      </p:sp>
      <p:pic>
        <p:nvPicPr>
          <p:cNvPr id="31" name="Image 9" descr="/home/claude/pptx_build/icons/arrow_accent.png"/>
          <p:cNvPicPr>
            <a:picLocks noChangeAspect="1"/>
          </p:cNvPicPr>
          <p:nvPr/>
        </p:nvPicPr>
        <p:blipFill>
          <a:blip r:embed="rId4"/>
          <a:stretch>
            <a:fillRect/>
          </a:stretch>
        </p:blipFill>
        <p:spPr>
          <a:xfrm>
            <a:off x="9790938" y="2926080"/>
            <a:ext cx="201168" cy="201168"/>
          </a:xfrm>
          <a:prstGeom prst="rect">
            <a:avLst/>
          </a:prstGeom>
        </p:spPr>
      </p:pic>
      <p:sp>
        <p:nvSpPr>
          <p:cNvPr id="32" name="Shape 20"/>
          <p:cNvSpPr/>
          <p:nvPr/>
        </p:nvSpPr>
        <p:spPr>
          <a:xfrm>
            <a:off x="10556977" y="2743200"/>
            <a:ext cx="566928" cy="566928"/>
          </a:xfrm>
          <a:prstGeom prst="ellipse">
            <a:avLst/>
          </a:prstGeom>
          <a:solidFill>
            <a:srgbClr val="0B1E3D"/>
          </a:solidFill>
          <a:ln/>
        </p:spPr>
      </p:sp>
      <p:pic>
        <p:nvPicPr>
          <p:cNvPr id="33" name="Image 10" descr="/home/claude/pptx_build/icons/monitor_bright.png"/>
          <p:cNvPicPr>
            <a:picLocks noChangeAspect="1"/>
          </p:cNvPicPr>
          <p:nvPr/>
        </p:nvPicPr>
        <p:blipFill>
          <a:blip r:embed="rId9"/>
          <a:stretch>
            <a:fillRect/>
          </a:stretch>
        </p:blipFill>
        <p:spPr>
          <a:xfrm>
            <a:off x="10698709" y="2884932"/>
            <a:ext cx="283464" cy="283464"/>
          </a:xfrm>
          <a:prstGeom prst="rect">
            <a:avLst/>
          </a:prstGeom>
        </p:spPr>
      </p:pic>
      <p:sp>
        <p:nvSpPr>
          <p:cNvPr id="34" name="Text 21"/>
          <p:cNvSpPr/>
          <p:nvPr/>
        </p:nvSpPr>
        <p:spPr>
          <a:xfrm>
            <a:off x="10037826" y="3419856"/>
            <a:ext cx="1605229" cy="292608"/>
          </a:xfrm>
          <a:prstGeom prst="rect">
            <a:avLst/>
          </a:prstGeom>
          <a:noFill/>
          <a:ln/>
        </p:spPr>
        <p:txBody>
          <a:bodyPr wrap="square" rtlCol="0" anchor="t"/>
          <a:lstStyle/>
          <a:p>
            <a:pPr marL="0" indent="0" algn="ctr">
              <a:buNone/>
            </a:pPr>
            <a:r>
              <a:rPr lang="en-US" sz="1300" b="1" dirty="0">
                <a:solidFill>
                  <a:srgbClr val="0B1E3D"/>
                </a:solidFill>
                <a:latin typeface="Arial" pitchFamily="34" charset="0"/>
                <a:ea typeface="Arial" pitchFamily="34" charset="-122"/>
                <a:cs typeface="Arial" pitchFamily="34" charset="-120"/>
              </a:rPr>
              <a:t>Power BI</a:t>
            </a:r>
            <a:endParaRPr lang="en-US" sz="1300" dirty="0"/>
          </a:p>
        </p:txBody>
      </p:sp>
      <p:sp>
        <p:nvSpPr>
          <p:cNvPr id="35" name="Text 22"/>
          <p:cNvSpPr/>
          <p:nvPr/>
        </p:nvSpPr>
        <p:spPr>
          <a:xfrm>
            <a:off x="10083546" y="3712464"/>
            <a:ext cx="1513789" cy="1408176"/>
          </a:xfrm>
          <a:prstGeom prst="rect">
            <a:avLst/>
          </a:prstGeom>
          <a:noFill/>
          <a:ln/>
        </p:spPr>
        <p:txBody>
          <a:bodyPr wrap="square" rtlCol="0" anchor="t"/>
          <a:lstStyle/>
          <a:p>
            <a:pPr marL="0" indent="0" algn="ctr">
              <a:buNone/>
            </a:pPr>
            <a:r>
              <a:rPr lang="en-US" sz="1000" dirty="0">
                <a:solidFill>
                  <a:srgbClr val="51617C"/>
                </a:solidFill>
                <a:latin typeface="Arial" pitchFamily="34" charset="0"/>
                <a:ea typeface="Arial" pitchFamily="34" charset="-122"/>
                <a:cs typeface="Arial" pitchFamily="34" charset="-120"/>
              </a:rPr>
              <a:t>Delivers the dashboard</a:t>
            </a:r>
            <a:endParaRPr lang="en-US" sz="1000" dirty="0"/>
          </a:p>
        </p:txBody>
      </p:sp>
      <p:sp>
        <p:nvSpPr>
          <p:cNvPr id="36" name="Shape 23"/>
          <p:cNvSpPr/>
          <p:nvPr/>
        </p:nvSpPr>
        <p:spPr>
          <a:xfrm>
            <a:off x="548640" y="6473952"/>
            <a:ext cx="146304" cy="146304"/>
          </a:xfrm>
          <a:prstGeom prst="roundRect">
            <a:avLst>
              <a:gd name="adj" fmla="val 21875"/>
            </a:avLst>
          </a:prstGeom>
          <a:solidFill>
            <a:srgbClr val="0B1E3D"/>
          </a:solidFill>
          <a:ln/>
        </p:spPr>
      </p:sp>
      <p:sp>
        <p:nvSpPr>
          <p:cNvPr id="37" name="Shape 24"/>
          <p:cNvSpPr/>
          <p:nvPr/>
        </p:nvSpPr>
        <p:spPr>
          <a:xfrm>
            <a:off x="630936" y="6556248"/>
            <a:ext cx="68580" cy="68580"/>
          </a:xfrm>
          <a:prstGeom prst="ellipse">
            <a:avLst/>
          </a:prstGeom>
          <a:solidFill>
            <a:srgbClr val="C6540E"/>
          </a:solidFill>
          <a:ln/>
        </p:spPr>
      </p:sp>
      <p:sp>
        <p:nvSpPr>
          <p:cNvPr id="38" name="Text 25"/>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39" name="Text 26"/>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05 / 15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06</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DATA PROFILING</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Evidence Before Action</a:t>
            </a:r>
            <a:endParaRPr lang="en-US" sz="3200" dirty="0"/>
          </a:p>
        </p:txBody>
      </p:sp>
      <p:sp>
        <p:nvSpPr>
          <p:cNvPr id="6" name="Text 4"/>
          <p:cNvSpPr/>
          <p:nvPr/>
        </p:nvSpPr>
        <p:spPr>
          <a:xfrm>
            <a:off x="548640" y="1627632"/>
            <a:ext cx="9997135" cy="457200"/>
          </a:xfrm>
          <a:prstGeom prst="rect">
            <a:avLst/>
          </a:prstGeom>
          <a:noFill/>
          <a:ln/>
        </p:spPr>
        <p:txBody>
          <a:bodyPr wrap="square" rtlCol="0" anchor="t"/>
          <a:lstStyle/>
          <a:p>
            <a:pPr marL="0" indent="0" algn="l">
              <a:buNone/>
            </a:pPr>
            <a:r>
              <a:rPr lang="en-US" sz="1500" dirty="0">
                <a:solidFill>
                  <a:srgbClr val="51617C"/>
                </a:solidFill>
                <a:latin typeface="Arial" pitchFamily="34" charset="0"/>
                <a:ea typeface="Arial" pitchFamily="34" charset="-122"/>
                <a:cs typeface="Arial" pitchFamily="34" charset="-120"/>
              </a:rPr>
              <a:t>Six validation tests on the Bronze layer, before a single row was changed.</a:t>
            </a:r>
            <a:endParaRPr lang="en-US" sz="1500" dirty="0"/>
          </a:p>
        </p:txBody>
      </p:sp>
      <p:sp>
        <p:nvSpPr>
          <p:cNvPr id="7" name="Shape 5"/>
          <p:cNvSpPr/>
          <p:nvPr/>
        </p:nvSpPr>
        <p:spPr>
          <a:xfrm>
            <a:off x="548640" y="2331720"/>
            <a:ext cx="2581580" cy="1417320"/>
          </a:xfrm>
          <a:prstGeom prst="roundRect">
            <a:avLst>
              <a:gd name="adj" fmla="val 5806"/>
            </a:avLst>
          </a:prstGeom>
          <a:solidFill>
            <a:srgbClr val="0B1E3D"/>
          </a:solidFill>
          <a:ln/>
        </p:spPr>
      </p:sp>
      <p:sp>
        <p:nvSpPr>
          <p:cNvPr id="8" name="Text 6"/>
          <p:cNvSpPr/>
          <p:nvPr/>
        </p:nvSpPr>
        <p:spPr>
          <a:xfrm>
            <a:off x="749808" y="2450592"/>
            <a:ext cx="2179244" cy="685800"/>
          </a:xfrm>
          <a:prstGeom prst="rect">
            <a:avLst/>
          </a:prstGeom>
          <a:noFill/>
          <a:ln/>
        </p:spPr>
        <p:txBody>
          <a:bodyPr wrap="square" rtlCol="0" anchor="t"/>
          <a:lstStyle/>
          <a:p>
            <a:pPr marL="0" indent="0" algn="l">
              <a:buNone/>
            </a:pPr>
            <a:r>
              <a:rPr lang="en-US" sz="4000" b="1" dirty="0">
                <a:solidFill>
                  <a:srgbClr val="FF8A42"/>
                </a:solidFill>
                <a:latin typeface="Arial" pitchFamily="34" charset="0"/>
                <a:ea typeface="Arial" pitchFamily="34" charset="-122"/>
                <a:cs typeface="Arial" pitchFamily="34" charset="-120"/>
              </a:rPr>
              <a:t>6</a:t>
            </a:r>
            <a:endParaRPr lang="en-US" sz="4000" dirty="0"/>
          </a:p>
        </p:txBody>
      </p:sp>
      <p:sp>
        <p:nvSpPr>
          <p:cNvPr id="9" name="Text 7"/>
          <p:cNvSpPr/>
          <p:nvPr/>
        </p:nvSpPr>
        <p:spPr>
          <a:xfrm>
            <a:off x="749808" y="3200400"/>
            <a:ext cx="2179244" cy="502920"/>
          </a:xfrm>
          <a:prstGeom prst="rect">
            <a:avLst/>
          </a:prstGeom>
          <a:noFill/>
          <a:ln/>
        </p:spPr>
        <p:txBody>
          <a:bodyPr wrap="square" rtlCol="0" anchor="t"/>
          <a:lstStyle/>
          <a:p>
            <a:pPr marL="0" indent="0" algn="l">
              <a:buNone/>
            </a:pPr>
            <a:r>
              <a:rPr lang="en-US" sz="1150" b="1" dirty="0">
                <a:solidFill>
                  <a:srgbClr val="FFFFFF"/>
                </a:solidFill>
                <a:latin typeface="Arial" pitchFamily="34" charset="0"/>
                <a:ea typeface="Arial" pitchFamily="34" charset="-122"/>
                <a:cs typeface="Arial" pitchFamily="34" charset="-120"/>
              </a:rPr>
              <a:t>Validation tests run</a:t>
            </a:r>
            <a:endParaRPr lang="en-US" sz="1150" dirty="0"/>
          </a:p>
        </p:txBody>
      </p:sp>
      <p:sp>
        <p:nvSpPr>
          <p:cNvPr id="10" name="Shape 8"/>
          <p:cNvSpPr/>
          <p:nvPr/>
        </p:nvSpPr>
        <p:spPr>
          <a:xfrm>
            <a:off x="3386252" y="2331720"/>
            <a:ext cx="2581580" cy="1417320"/>
          </a:xfrm>
          <a:prstGeom prst="roundRect">
            <a:avLst>
              <a:gd name="adj" fmla="val 5806"/>
            </a:avLst>
          </a:prstGeom>
          <a:solidFill>
            <a:srgbClr val="0B1E3D"/>
          </a:solidFill>
          <a:ln/>
        </p:spPr>
      </p:sp>
      <p:sp>
        <p:nvSpPr>
          <p:cNvPr id="11" name="Text 9"/>
          <p:cNvSpPr/>
          <p:nvPr/>
        </p:nvSpPr>
        <p:spPr>
          <a:xfrm>
            <a:off x="3587420" y="2450592"/>
            <a:ext cx="2179244" cy="685800"/>
          </a:xfrm>
          <a:prstGeom prst="rect">
            <a:avLst/>
          </a:prstGeom>
          <a:noFill/>
          <a:ln/>
        </p:spPr>
        <p:txBody>
          <a:bodyPr wrap="square" rtlCol="0" anchor="t"/>
          <a:lstStyle/>
          <a:p>
            <a:pPr marL="0" indent="0" algn="l">
              <a:buNone/>
            </a:pPr>
            <a:r>
              <a:rPr lang="en-US" sz="4000" b="1" dirty="0">
                <a:solidFill>
                  <a:srgbClr val="FF8A42"/>
                </a:solidFill>
                <a:latin typeface="Arial" pitchFamily="34" charset="0"/>
                <a:ea typeface="Arial" pitchFamily="34" charset="-122"/>
                <a:cs typeface="Arial" pitchFamily="34" charset="-120"/>
              </a:rPr>
              <a:t>14</a:t>
            </a:r>
            <a:endParaRPr lang="en-US" sz="4000" dirty="0"/>
          </a:p>
        </p:txBody>
      </p:sp>
      <p:sp>
        <p:nvSpPr>
          <p:cNvPr id="12" name="Text 10"/>
          <p:cNvSpPr/>
          <p:nvPr/>
        </p:nvSpPr>
        <p:spPr>
          <a:xfrm>
            <a:off x="3587420" y="3200400"/>
            <a:ext cx="2179244" cy="502920"/>
          </a:xfrm>
          <a:prstGeom prst="rect">
            <a:avLst/>
          </a:prstGeom>
          <a:noFill/>
          <a:ln/>
        </p:spPr>
        <p:txBody>
          <a:bodyPr wrap="square" rtlCol="0" anchor="t"/>
          <a:lstStyle/>
          <a:p>
            <a:pPr marL="0" indent="0" algn="l">
              <a:buNone/>
            </a:pPr>
            <a:r>
              <a:rPr lang="en-US" sz="1150" b="1" dirty="0">
                <a:solidFill>
                  <a:srgbClr val="FFFFFF"/>
                </a:solidFill>
                <a:latin typeface="Arial" pitchFamily="34" charset="0"/>
                <a:ea typeface="Arial" pitchFamily="34" charset="-122"/>
                <a:cs typeface="Arial" pitchFamily="34" charset="-120"/>
              </a:rPr>
              <a:t>Source tables profiled</a:t>
            </a:r>
            <a:endParaRPr lang="en-US" sz="1150" dirty="0"/>
          </a:p>
        </p:txBody>
      </p:sp>
      <p:sp>
        <p:nvSpPr>
          <p:cNvPr id="13" name="Shape 11"/>
          <p:cNvSpPr/>
          <p:nvPr/>
        </p:nvSpPr>
        <p:spPr>
          <a:xfrm>
            <a:off x="6223864" y="2331720"/>
            <a:ext cx="2581580" cy="1417320"/>
          </a:xfrm>
          <a:prstGeom prst="roundRect">
            <a:avLst>
              <a:gd name="adj" fmla="val 5806"/>
            </a:avLst>
          </a:prstGeom>
          <a:solidFill>
            <a:srgbClr val="0B1E3D"/>
          </a:solidFill>
          <a:ln/>
        </p:spPr>
      </p:sp>
      <p:sp>
        <p:nvSpPr>
          <p:cNvPr id="14" name="Text 12"/>
          <p:cNvSpPr/>
          <p:nvPr/>
        </p:nvSpPr>
        <p:spPr>
          <a:xfrm>
            <a:off x="6425032" y="2450592"/>
            <a:ext cx="2179244" cy="685800"/>
          </a:xfrm>
          <a:prstGeom prst="rect">
            <a:avLst/>
          </a:prstGeom>
          <a:noFill/>
          <a:ln/>
        </p:spPr>
        <p:txBody>
          <a:bodyPr wrap="square" rtlCol="0" anchor="t"/>
          <a:lstStyle/>
          <a:p>
            <a:pPr marL="0" indent="0" algn="l">
              <a:buNone/>
            </a:pPr>
            <a:r>
              <a:rPr lang="en-US" sz="4000" b="1" dirty="0">
                <a:solidFill>
                  <a:srgbClr val="FF8A42"/>
                </a:solidFill>
                <a:latin typeface="Arial" pitchFamily="34" charset="0"/>
                <a:ea typeface="Arial" pitchFamily="34" charset="-122"/>
                <a:cs typeface="Arial" pitchFamily="34" charset="-120"/>
              </a:rPr>
              <a:t>0</a:t>
            </a:r>
            <a:endParaRPr lang="en-US" sz="4000" dirty="0"/>
          </a:p>
        </p:txBody>
      </p:sp>
      <p:sp>
        <p:nvSpPr>
          <p:cNvPr id="15" name="Text 13"/>
          <p:cNvSpPr/>
          <p:nvPr/>
        </p:nvSpPr>
        <p:spPr>
          <a:xfrm>
            <a:off x="6425032" y="3200400"/>
            <a:ext cx="2179244" cy="502920"/>
          </a:xfrm>
          <a:prstGeom prst="rect">
            <a:avLst/>
          </a:prstGeom>
          <a:noFill/>
          <a:ln/>
        </p:spPr>
        <p:txBody>
          <a:bodyPr wrap="square" rtlCol="0" anchor="t"/>
          <a:lstStyle/>
          <a:p>
            <a:pPr marL="0" indent="0" algn="l">
              <a:buNone/>
            </a:pPr>
            <a:r>
              <a:rPr lang="en-US" sz="1150" b="1" dirty="0">
                <a:solidFill>
                  <a:srgbClr val="FFFFFF"/>
                </a:solidFill>
                <a:latin typeface="Arial" pitchFamily="34" charset="0"/>
                <a:ea typeface="Arial" pitchFamily="34" charset="-122"/>
                <a:cs typeface="Arial" pitchFamily="34" charset="-120"/>
              </a:rPr>
              <a:t>Duplicate keys or broken relationships</a:t>
            </a:r>
            <a:endParaRPr lang="en-US" sz="1150" dirty="0"/>
          </a:p>
        </p:txBody>
      </p:sp>
      <p:sp>
        <p:nvSpPr>
          <p:cNvPr id="16" name="Shape 14"/>
          <p:cNvSpPr/>
          <p:nvPr/>
        </p:nvSpPr>
        <p:spPr>
          <a:xfrm>
            <a:off x="9061475" y="2331720"/>
            <a:ext cx="2581580" cy="1417320"/>
          </a:xfrm>
          <a:prstGeom prst="roundRect">
            <a:avLst>
              <a:gd name="adj" fmla="val 5806"/>
            </a:avLst>
          </a:prstGeom>
          <a:solidFill>
            <a:srgbClr val="0B1E3D"/>
          </a:solidFill>
          <a:ln/>
        </p:spPr>
      </p:sp>
      <p:sp>
        <p:nvSpPr>
          <p:cNvPr id="17" name="Text 15"/>
          <p:cNvSpPr/>
          <p:nvPr/>
        </p:nvSpPr>
        <p:spPr>
          <a:xfrm>
            <a:off x="9262643" y="2450592"/>
            <a:ext cx="2179244" cy="685800"/>
          </a:xfrm>
          <a:prstGeom prst="rect">
            <a:avLst/>
          </a:prstGeom>
          <a:noFill/>
          <a:ln/>
        </p:spPr>
        <p:txBody>
          <a:bodyPr wrap="square" rtlCol="0" anchor="t"/>
          <a:lstStyle/>
          <a:p>
            <a:pPr marL="0" indent="0" algn="l">
              <a:buNone/>
            </a:pPr>
            <a:r>
              <a:rPr lang="en-US" sz="4000" b="1" dirty="0">
                <a:solidFill>
                  <a:srgbClr val="FF8A42"/>
                </a:solidFill>
                <a:latin typeface="Arial" pitchFamily="34" charset="0"/>
                <a:ea typeface="Arial" pitchFamily="34" charset="-122"/>
                <a:cs typeface="Arial" pitchFamily="34" charset="-120"/>
              </a:rPr>
              <a:t>248</a:t>
            </a:r>
            <a:endParaRPr lang="en-US" sz="4000" dirty="0"/>
          </a:p>
        </p:txBody>
      </p:sp>
      <p:sp>
        <p:nvSpPr>
          <p:cNvPr id="18" name="Text 16"/>
          <p:cNvSpPr/>
          <p:nvPr/>
        </p:nvSpPr>
        <p:spPr>
          <a:xfrm>
            <a:off x="9262643" y="3200400"/>
            <a:ext cx="2179244" cy="502920"/>
          </a:xfrm>
          <a:prstGeom prst="rect">
            <a:avLst/>
          </a:prstGeom>
          <a:noFill/>
          <a:ln/>
        </p:spPr>
        <p:txBody>
          <a:bodyPr wrap="square" rtlCol="0" anchor="t"/>
          <a:lstStyle/>
          <a:p>
            <a:pPr marL="0" indent="0" algn="l">
              <a:buNone/>
            </a:pPr>
            <a:r>
              <a:rPr lang="en-US" sz="1150" b="1" dirty="0">
                <a:solidFill>
                  <a:srgbClr val="FFFFFF"/>
                </a:solidFill>
                <a:latin typeface="Arial" pitchFamily="34" charset="0"/>
                <a:ea typeface="Arial" pitchFamily="34" charset="-122"/>
                <a:cs typeface="Arial" pitchFamily="34" charset="-120"/>
              </a:rPr>
              <a:t>Products missing a Color value</a:t>
            </a:r>
            <a:endParaRPr lang="en-US" sz="1150" dirty="0"/>
          </a:p>
        </p:txBody>
      </p:sp>
      <p:sp>
        <p:nvSpPr>
          <p:cNvPr id="19" name="Shape 17"/>
          <p:cNvSpPr/>
          <p:nvPr/>
        </p:nvSpPr>
        <p:spPr>
          <a:xfrm>
            <a:off x="548640" y="4160520"/>
            <a:ext cx="457200" cy="457200"/>
          </a:xfrm>
          <a:prstGeom prst="roundRect">
            <a:avLst>
              <a:gd name="adj" fmla="val 24000"/>
            </a:avLst>
          </a:prstGeom>
          <a:solidFill>
            <a:srgbClr val="F8EAE2"/>
          </a:solidFill>
          <a:ln/>
        </p:spPr>
      </p:sp>
      <p:pic>
        <p:nvPicPr>
          <p:cNvPr id="20" name="Image 0" descr="/home/claude/pptx_build/icons/check_accent.png"/>
          <p:cNvPicPr>
            <a:picLocks noChangeAspect="1"/>
          </p:cNvPicPr>
          <p:nvPr/>
        </p:nvPicPr>
        <p:blipFill>
          <a:blip r:embed="rId3"/>
          <a:stretch>
            <a:fillRect/>
          </a:stretch>
        </p:blipFill>
        <p:spPr>
          <a:xfrm>
            <a:off x="640080" y="4251960"/>
            <a:ext cx="274320" cy="274320"/>
          </a:xfrm>
          <a:prstGeom prst="rect">
            <a:avLst/>
          </a:prstGeom>
        </p:spPr>
      </p:pic>
      <p:sp>
        <p:nvSpPr>
          <p:cNvPr id="21" name="Text 18"/>
          <p:cNvSpPr/>
          <p:nvPr/>
        </p:nvSpPr>
        <p:spPr>
          <a:xfrm>
            <a:off x="1207008" y="4160520"/>
            <a:ext cx="10271455" cy="457200"/>
          </a:xfrm>
          <a:prstGeom prst="rect">
            <a:avLst/>
          </a:prstGeom>
          <a:noFill/>
          <a:ln/>
        </p:spPr>
        <p:txBody>
          <a:bodyPr wrap="square" rtlCol="0" anchor="ctr"/>
          <a:lstStyle/>
          <a:p>
            <a:pPr marL="0" indent="0">
              <a:buNone/>
            </a:pPr>
            <a:r>
              <a:rPr lang="en-US" sz="1550" b="1" dirty="0">
                <a:solidFill>
                  <a:srgbClr val="0B1E3D"/>
                </a:solidFill>
                <a:latin typeface="Arial" pitchFamily="34" charset="0"/>
                <a:ea typeface="Arial" pitchFamily="34" charset="-122"/>
                <a:cs typeface="Arial" pitchFamily="34" charset="-120"/>
              </a:rPr>
              <a:t>Color is an optional attribute — missing values don't affect analysis, so records were retained</a:t>
            </a:r>
            <a:endParaRPr lang="en-US" sz="1550" dirty="0"/>
          </a:p>
        </p:txBody>
      </p:sp>
      <p:sp>
        <p:nvSpPr>
          <p:cNvPr id="22" name="Shape 19"/>
          <p:cNvSpPr/>
          <p:nvPr/>
        </p:nvSpPr>
        <p:spPr>
          <a:xfrm>
            <a:off x="548640" y="6473952"/>
            <a:ext cx="146304" cy="146304"/>
          </a:xfrm>
          <a:prstGeom prst="roundRect">
            <a:avLst>
              <a:gd name="adj" fmla="val 21875"/>
            </a:avLst>
          </a:prstGeom>
          <a:solidFill>
            <a:srgbClr val="0B1E3D"/>
          </a:solidFill>
          <a:ln/>
        </p:spPr>
      </p:sp>
      <p:sp>
        <p:nvSpPr>
          <p:cNvPr id="23" name="Shape 20"/>
          <p:cNvSpPr/>
          <p:nvPr/>
        </p:nvSpPr>
        <p:spPr>
          <a:xfrm>
            <a:off x="630936" y="6556248"/>
            <a:ext cx="68580" cy="68580"/>
          </a:xfrm>
          <a:prstGeom prst="ellipse">
            <a:avLst/>
          </a:prstGeom>
          <a:solidFill>
            <a:srgbClr val="C6540E"/>
          </a:solidFill>
          <a:ln/>
        </p:spPr>
      </p:sp>
      <p:sp>
        <p:nvSpPr>
          <p:cNvPr id="24" name="Text 21"/>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25" name="Text 22"/>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06 / 15</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07</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DATA CLEANING &amp; TRANSFORMATION</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Turning Findings Into Clean Silver Tables</a:t>
            </a:r>
            <a:endParaRPr lang="en-US" sz="3200" dirty="0"/>
          </a:p>
        </p:txBody>
      </p:sp>
      <p:sp>
        <p:nvSpPr>
          <p:cNvPr id="6" name="Text 4"/>
          <p:cNvSpPr/>
          <p:nvPr/>
        </p:nvSpPr>
        <p:spPr>
          <a:xfrm>
            <a:off x="548640" y="1627632"/>
            <a:ext cx="9997135" cy="457200"/>
          </a:xfrm>
          <a:prstGeom prst="rect">
            <a:avLst/>
          </a:prstGeom>
          <a:noFill/>
          <a:ln/>
        </p:spPr>
        <p:txBody>
          <a:bodyPr wrap="square" rtlCol="0" anchor="t"/>
          <a:lstStyle/>
          <a:p>
            <a:pPr marL="0" indent="0" algn="l">
              <a:buNone/>
            </a:pPr>
            <a:r>
              <a:rPr lang="en-US" sz="1500" dirty="0">
                <a:solidFill>
                  <a:srgbClr val="51617C"/>
                </a:solidFill>
                <a:latin typeface="Arial" pitchFamily="34" charset="0"/>
                <a:ea typeface="Arial" pitchFamily="34" charset="-122"/>
                <a:cs typeface="Arial" pitchFamily="34" charset="-120"/>
              </a:rPr>
              <a:t>Every rule traces back to a profiling result — nothing cleaned "just in case."</a:t>
            </a:r>
            <a:endParaRPr lang="en-US" sz="1500" dirty="0"/>
          </a:p>
        </p:txBody>
      </p:sp>
      <p:sp>
        <p:nvSpPr>
          <p:cNvPr id="7" name="Shape 5"/>
          <p:cNvSpPr/>
          <p:nvPr/>
        </p:nvSpPr>
        <p:spPr>
          <a:xfrm>
            <a:off x="548640" y="2487168"/>
            <a:ext cx="457200" cy="457200"/>
          </a:xfrm>
          <a:prstGeom prst="roundRect">
            <a:avLst>
              <a:gd name="adj" fmla="val 24000"/>
            </a:avLst>
          </a:prstGeom>
          <a:solidFill>
            <a:srgbClr val="F8EAE2"/>
          </a:solidFill>
          <a:ln/>
        </p:spPr>
      </p:sp>
      <p:pic>
        <p:nvPicPr>
          <p:cNvPr id="8" name="Image 0" descr="/home/claude/pptx_build/icons/filter_accent.png"/>
          <p:cNvPicPr>
            <a:picLocks noChangeAspect="1"/>
          </p:cNvPicPr>
          <p:nvPr/>
        </p:nvPicPr>
        <p:blipFill>
          <a:blip r:embed="rId3"/>
          <a:stretch>
            <a:fillRect/>
          </a:stretch>
        </p:blipFill>
        <p:spPr>
          <a:xfrm>
            <a:off x="640080" y="2578608"/>
            <a:ext cx="274320" cy="274320"/>
          </a:xfrm>
          <a:prstGeom prst="rect">
            <a:avLst/>
          </a:prstGeom>
        </p:spPr>
      </p:pic>
      <p:sp>
        <p:nvSpPr>
          <p:cNvPr id="9" name="Text 6"/>
          <p:cNvSpPr/>
          <p:nvPr/>
        </p:nvSpPr>
        <p:spPr>
          <a:xfrm>
            <a:off x="1207008" y="2331720"/>
            <a:ext cx="10271455" cy="768096"/>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Standardized casing, spacing &amp; codes across all tables</a:t>
            </a:r>
            <a:endParaRPr lang="en-US" sz="1600" dirty="0"/>
          </a:p>
        </p:txBody>
      </p:sp>
      <p:sp>
        <p:nvSpPr>
          <p:cNvPr id="10" name="Shape 7"/>
          <p:cNvSpPr/>
          <p:nvPr/>
        </p:nvSpPr>
        <p:spPr>
          <a:xfrm>
            <a:off x="548640" y="3255264"/>
            <a:ext cx="457200" cy="457200"/>
          </a:xfrm>
          <a:prstGeom prst="roundRect">
            <a:avLst>
              <a:gd name="adj" fmla="val 24000"/>
            </a:avLst>
          </a:prstGeom>
          <a:solidFill>
            <a:srgbClr val="F8EAE2"/>
          </a:solidFill>
          <a:ln/>
        </p:spPr>
      </p:sp>
      <p:pic>
        <p:nvPicPr>
          <p:cNvPr id="11" name="Image 1" descr="/home/claude/pptx_build/icons/check_accent.png"/>
          <p:cNvPicPr>
            <a:picLocks noChangeAspect="1"/>
          </p:cNvPicPr>
          <p:nvPr/>
        </p:nvPicPr>
        <p:blipFill>
          <a:blip r:embed="rId4"/>
          <a:stretch>
            <a:fillRect/>
          </a:stretch>
        </p:blipFill>
        <p:spPr>
          <a:xfrm>
            <a:off x="640080" y="3346704"/>
            <a:ext cx="274320" cy="274320"/>
          </a:xfrm>
          <a:prstGeom prst="rect">
            <a:avLst/>
          </a:prstGeom>
        </p:spPr>
      </p:pic>
      <p:sp>
        <p:nvSpPr>
          <p:cNvPr id="12" name="Text 8"/>
          <p:cNvSpPr/>
          <p:nvPr/>
        </p:nvSpPr>
        <p:spPr>
          <a:xfrm>
            <a:off x="1207008" y="3099816"/>
            <a:ext cx="10271455" cy="768096"/>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Missing Color, City &amp; Name fields resolved to 'N/A' / 'UNKNOWN'</a:t>
            </a:r>
            <a:endParaRPr lang="en-US" sz="1600" dirty="0"/>
          </a:p>
        </p:txBody>
      </p:sp>
      <p:sp>
        <p:nvSpPr>
          <p:cNvPr id="13" name="Shape 9"/>
          <p:cNvSpPr/>
          <p:nvPr/>
        </p:nvSpPr>
        <p:spPr>
          <a:xfrm>
            <a:off x="548640" y="4023360"/>
            <a:ext cx="457200" cy="457200"/>
          </a:xfrm>
          <a:prstGeom prst="roundRect">
            <a:avLst>
              <a:gd name="adj" fmla="val 24000"/>
            </a:avLst>
          </a:prstGeom>
          <a:solidFill>
            <a:srgbClr val="F8EAE2"/>
          </a:solidFill>
          <a:ln/>
        </p:spPr>
      </p:sp>
      <p:pic>
        <p:nvPicPr>
          <p:cNvPr id="14" name="Image 2" descr="/home/claude/pptx_build/icons/shield_accent.png"/>
          <p:cNvPicPr>
            <a:picLocks noChangeAspect="1"/>
          </p:cNvPicPr>
          <p:nvPr/>
        </p:nvPicPr>
        <p:blipFill>
          <a:blip r:embed="rId5"/>
          <a:stretch>
            <a:fillRect/>
          </a:stretch>
        </p:blipFill>
        <p:spPr>
          <a:xfrm>
            <a:off x="640080" y="4114800"/>
            <a:ext cx="274320" cy="274320"/>
          </a:xfrm>
          <a:prstGeom prst="rect">
            <a:avLst/>
          </a:prstGeom>
        </p:spPr>
      </p:pic>
      <p:sp>
        <p:nvSpPr>
          <p:cNvPr id="15" name="Text 10"/>
          <p:cNvSpPr/>
          <p:nvPr/>
        </p:nvSpPr>
        <p:spPr>
          <a:xfrm>
            <a:off x="1207008" y="3867912"/>
            <a:ext cx="10271455" cy="768096"/>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Negative costs &amp; prices guarded to zero</a:t>
            </a:r>
            <a:endParaRPr lang="en-US" sz="1600" dirty="0"/>
          </a:p>
        </p:txBody>
      </p:sp>
      <p:sp>
        <p:nvSpPr>
          <p:cNvPr id="16" name="Shape 11"/>
          <p:cNvSpPr/>
          <p:nvPr/>
        </p:nvSpPr>
        <p:spPr>
          <a:xfrm>
            <a:off x="548640" y="4791456"/>
            <a:ext cx="457200" cy="457200"/>
          </a:xfrm>
          <a:prstGeom prst="roundRect">
            <a:avLst>
              <a:gd name="adj" fmla="val 24000"/>
            </a:avLst>
          </a:prstGeom>
          <a:solidFill>
            <a:srgbClr val="F8EAE2"/>
          </a:solidFill>
          <a:ln/>
        </p:spPr>
      </p:sp>
      <p:pic>
        <p:nvPicPr>
          <p:cNvPr id="17" name="Image 3" descr="/home/claude/pptx_build/icons/alert_accent.png"/>
          <p:cNvPicPr>
            <a:picLocks noChangeAspect="1"/>
          </p:cNvPicPr>
          <p:nvPr/>
        </p:nvPicPr>
        <p:blipFill>
          <a:blip r:embed="rId6"/>
          <a:stretch>
            <a:fillRect/>
          </a:stretch>
        </p:blipFill>
        <p:spPr>
          <a:xfrm>
            <a:off x="640080" y="4882896"/>
            <a:ext cx="274320" cy="274320"/>
          </a:xfrm>
          <a:prstGeom prst="rect">
            <a:avLst/>
          </a:prstGeom>
        </p:spPr>
      </p:pic>
      <p:sp>
        <p:nvSpPr>
          <p:cNvPr id="18" name="Text 12"/>
          <p:cNvSpPr/>
          <p:nvPr/>
        </p:nvSpPr>
        <p:spPr>
          <a:xfrm>
            <a:off x="1207008" y="4636008"/>
            <a:ext cx="10271455" cy="768096"/>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Impossible-date order rows excluded via CHECK constraints</a:t>
            </a:r>
            <a:endParaRPr lang="en-US" sz="1600" dirty="0"/>
          </a:p>
        </p:txBody>
      </p:sp>
      <p:sp>
        <p:nvSpPr>
          <p:cNvPr id="19" name="Shape 13"/>
          <p:cNvSpPr/>
          <p:nvPr/>
        </p:nvSpPr>
        <p:spPr>
          <a:xfrm>
            <a:off x="548640" y="5559552"/>
            <a:ext cx="457200" cy="457200"/>
          </a:xfrm>
          <a:prstGeom prst="roundRect">
            <a:avLst>
              <a:gd name="adj" fmla="val 24000"/>
            </a:avLst>
          </a:prstGeom>
          <a:solidFill>
            <a:srgbClr val="F8EAE2"/>
          </a:solidFill>
          <a:ln/>
        </p:spPr>
      </p:sp>
      <p:pic>
        <p:nvPicPr>
          <p:cNvPr id="20" name="Image 4" descr="/home/claude/pptx_build/icons/layers_accent.png"/>
          <p:cNvPicPr>
            <a:picLocks noChangeAspect="1"/>
          </p:cNvPicPr>
          <p:nvPr/>
        </p:nvPicPr>
        <p:blipFill>
          <a:blip r:embed="rId7"/>
          <a:stretch>
            <a:fillRect/>
          </a:stretch>
        </p:blipFill>
        <p:spPr>
          <a:xfrm>
            <a:off x="640080" y="5650992"/>
            <a:ext cx="274320" cy="274320"/>
          </a:xfrm>
          <a:prstGeom prst="rect">
            <a:avLst/>
          </a:prstGeom>
        </p:spPr>
      </p:pic>
      <p:sp>
        <p:nvSpPr>
          <p:cNvPr id="21" name="Text 14"/>
          <p:cNvSpPr/>
          <p:nvPr/>
        </p:nvSpPr>
        <p:spPr>
          <a:xfrm>
            <a:off x="1207008" y="5404104"/>
            <a:ext cx="10271455" cy="768096"/>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14 clean, consistently-typed Silver tables produced</a:t>
            </a:r>
            <a:endParaRPr lang="en-US" sz="1600" dirty="0"/>
          </a:p>
        </p:txBody>
      </p:sp>
      <p:sp>
        <p:nvSpPr>
          <p:cNvPr id="22" name="Shape 15"/>
          <p:cNvSpPr/>
          <p:nvPr/>
        </p:nvSpPr>
        <p:spPr>
          <a:xfrm>
            <a:off x="548640" y="6473952"/>
            <a:ext cx="146304" cy="146304"/>
          </a:xfrm>
          <a:prstGeom prst="roundRect">
            <a:avLst>
              <a:gd name="adj" fmla="val 21875"/>
            </a:avLst>
          </a:prstGeom>
          <a:solidFill>
            <a:srgbClr val="0B1E3D"/>
          </a:solidFill>
          <a:ln/>
        </p:spPr>
      </p:sp>
      <p:sp>
        <p:nvSpPr>
          <p:cNvPr id="23" name="Shape 16"/>
          <p:cNvSpPr/>
          <p:nvPr/>
        </p:nvSpPr>
        <p:spPr>
          <a:xfrm>
            <a:off x="630936" y="6556248"/>
            <a:ext cx="68580" cy="68580"/>
          </a:xfrm>
          <a:prstGeom prst="ellipse">
            <a:avLst/>
          </a:prstGeom>
          <a:solidFill>
            <a:srgbClr val="C6540E"/>
          </a:solidFill>
          <a:ln/>
        </p:spPr>
      </p:sp>
      <p:sp>
        <p:nvSpPr>
          <p:cNvPr id="24" name="Text 17"/>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25" name="Text 18"/>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07 / 15</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08</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GOLD LAYER &amp; STAR SCHEMA</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One Fact Table, Six Dimensions</a:t>
            </a:r>
            <a:endParaRPr lang="en-US" sz="3200" dirty="0"/>
          </a:p>
        </p:txBody>
      </p:sp>
      <p:sp>
        <p:nvSpPr>
          <p:cNvPr id="6" name="Shape 4"/>
          <p:cNvSpPr/>
          <p:nvPr/>
        </p:nvSpPr>
        <p:spPr>
          <a:xfrm>
            <a:off x="5934456" y="2377440"/>
            <a:ext cx="18288" cy="1417320"/>
          </a:xfrm>
          <a:prstGeom prst="line">
            <a:avLst/>
          </a:prstGeom>
          <a:noFill/>
          <a:ln w="19050">
            <a:solidFill>
              <a:srgbClr val="E1E6EF"/>
            </a:solidFill>
            <a:prstDash val="solid"/>
          </a:ln>
        </p:spPr>
      </p:sp>
      <p:sp>
        <p:nvSpPr>
          <p:cNvPr id="7" name="Shape 5"/>
          <p:cNvSpPr/>
          <p:nvPr/>
        </p:nvSpPr>
        <p:spPr>
          <a:xfrm flipV="1">
            <a:off x="5943600" y="3086100"/>
            <a:ext cx="2811140" cy="708660"/>
          </a:xfrm>
          <a:prstGeom prst="line">
            <a:avLst/>
          </a:prstGeom>
          <a:noFill/>
          <a:ln w="19050">
            <a:solidFill>
              <a:srgbClr val="E1E6EF"/>
            </a:solidFill>
            <a:prstDash val="solid"/>
          </a:ln>
        </p:spPr>
      </p:sp>
      <p:sp>
        <p:nvSpPr>
          <p:cNvPr id="8" name="Shape 6"/>
          <p:cNvSpPr/>
          <p:nvPr/>
        </p:nvSpPr>
        <p:spPr>
          <a:xfrm>
            <a:off x="5943600" y="3794760"/>
            <a:ext cx="2811140" cy="708660"/>
          </a:xfrm>
          <a:prstGeom prst="line">
            <a:avLst/>
          </a:prstGeom>
          <a:noFill/>
          <a:ln w="19050">
            <a:solidFill>
              <a:srgbClr val="E1E6EF"/>
            </a:solidFill>
            <a:prstDash val="solid"/>
          </a:ln>
        </p:spPr>
      </p:sp>
      <p:sp>
        <p:nvSpPr>
          <p:cNvPr id="9" name="Shape 7"/>
          <p:cNvSpPr/>
          <p:nvPr/>
        </p:nvSpPr>
        <p:spPr>
          <a:xfrm>
            <a:off x="5934456" y="3794760"/>
            <a:ext cx="18288" cy="1417320"/>
          </a:xfrm>
          <a:prstGeom prst="line">
            <a:avLst/>
          </a:prstGeom>
          <a:noFill/>
          <a:ln w="19050">
            <a:solidFill>
              <a:srgbClr val="E1E6EF"/>
            </a:solidFill>
            <a:prstDash val="solid"/>
          </a:ln>
        </p:spPr>
      </p:sp>
      <p:sp>
        <p:nvSpPr>
          <p:cNvPr id="10" name="Shape 8"/>
          <p:cNvSpPr/>
          <p:nvPr/>
        </p:nvSpPr>
        <p:spPr>
          <a:xfrm flipH="1">
            <a:off x="3132460" y="3794760"/>
            <a:ext cx="2811140" cy="708660"/>
          </a:xfrm>
          <a:prstGeom prst="line">
            <a:avLst/>
          </a:prstGeom>
          <a:noFill/>
          <a:ln w="19050">
            <a:solidFill>
              <a:srgbClr val="E1E6EF"/>
            </a:solidFill>
            <a:prstDash val="solid"/>
          </a:ln>
        </p:spPr>
      </p:sp>
      <p:sp>
        <p:nvSpPr>
          <p:cNvPr id="11" name="Shape 9"/>
          <p:cNvSpPr/>
          <p:nvPr/>
        </p:nvSpPr>
        <p:spPr>
          <a:xfrm>
            <a:off x="3132460" y="3086100"/>
            <a:ext cx="2811140" cy="708660"/>
          </a:xfrm>
          <a:prstGeom prst="line">
            <a:avLst/>
          </a:prstGeom>
          <a:noFill/>
          <a:ln w="19050">
            <a:solidFill>
              <a:srgbClr val="E1E6EF"/>
            </a:solidFill>
            <a:prstDash val="solid"/>
          </a:ln>
        </p:spPr>
      </p:sp>
      <p:sp>
        <p:nvSpPr>
          <p:cNvPr id="12" name="Shape 10"/>
          <p:cNvSpPr/>
          <p:nvPr/>
        </p:nvSpPr>
        <p:spPr>
          <a:xfrm>
            <a:off x="5006340" y="2011680"/>
            <a:ext cx="1874520" cy="731520"/>
          </a:xfrm>
          <a:prstGeom prst="roundRect">
            <a:avLst>
              <a:gd name="adj" fmla="val 10000"/>
            </a:avLst>
          </a:prstGeom>
          <a:solidFill>
            <a:srgbClr val="F5F7FB"/>
          </a:solidFill>
          <a:ln w="12700">
            <a:solidFill>
              <a:srgbClr val="E1E6EF"/>
            </a:solidFill>
            <a:prstDash val="solid"/>
          </a:ln>
        </p:spPr>
      </p:sp>
      <p:sp>
        <p:nvSpPr>
          <p:cNvPr id="13" name="Text 11"/>
          <p:cNvSpPr/>
          <p:nvPr/>
        </p:nvSpPr>
        <p:spPr>
          <a:xfrm>
            <a:off x="5134356" y="2103120"/>
            <a:ext cx="1618488" cy="292608"/>
          </a:xfrm>
          <a:prstGeom prst="rect">
            <a:avLst/>
          </a:prstGeom>
          <a:noFill/>
          <a:ln/>
        </p:spPr>
        <p:txBody>
          <a:bodyPr wrap="square" rtlCol="0" anchor="ctr"/>
          <a:lstStyle/>
          <a:p>
            <a:pPr marL="0" indent="0" algn="ctr">
              <a:buNone/>
            </a:pPr>
            <a:r>
              <a:rPr lang="en-US" sz="1350" b="1" dirty="0">
                <a:solidFill>
                  <a:srgbClr val="0B1E3D"/>
                </a:solidFill>
                <a:latin typeface="Arial" pitchFamily="34" charset="0"/>
                <a:ea typeface="Arial" pitchFamily="34" charset="-122"/>
                <a:cs typeface="Arial" pitchFamily="34" charset="-120"/>
              </a:rPr>
              <a:t>DimDate</a:t>
            </a:r>
            <a:endParaRPr lang="en-US" sz="1350" dirty="0"/>
          </a:p>
        </p:txBody>
      </p:sp>
      <p:sp>
        <p:nvSpPr>
          <p:cNvPr id="14" name="Text 12"/>
          <p:cNvSpPr/>
          <p:nvPr/>
        </p:nvSpPr>
        <p:spPr>
          <a:xfrm>
            <a:off x="5097780" y="2377440"/>
            <a:ext cx="1691640" cy="329184"/>
          </a:xfrm>
          <a:prstGeom prst="rect">
            <a:avLst/>
          </a:prstGeom>
          <a:noFill/>
          <a:ln/>
        </p:spPr>
        <p:txBody>
          <a:bodyPr wrap="square" rtlCol="0" anchor="t"/>
          <a:lstStyle/>
          <a:p>
            <a:pPr marL="0" indent="0" algn="ctr">
              <a:buNone/>
            </a:pPr>
            <a:r>
              <a:rPr lang="en-US" sz="950" dirty="0">
                <a:solidFill>
                  <a:srgbClr val="51617C"/>
                </a:solidFill>
                <a:latin typeface="Arial" pitchFamily="34" charset="0"/>
                <a:ea typeface="Arial" pitchFamily="34" charset="-122"/>
                <a:cs typeface="Arial" pitchFamily="34" charset="-120"/>
              </a:rPr>
              <a:t>Order, due &amp; ship dates (2010–2025)</a:t>
            </a:r>
            <a:endParaRPr lang="en-US" sz="950" dirty="0"/>
          </a:p>
        </p:txBody>
      </p:sp>
      <p:sp>
        <p:nvSpPr>
          <p:cNvPr id="15" name="Shape 13"/>
          <p:cNvSpPr/>
          <p:nvPr/>
        </p:nvSpPr>
        <p:spPr>
          <a:xfrm>
            <a:off x="7817480" y="2720340"/>
            <a:ext cx="1874520" cy="731520"/>
          </a:xfrm>
          <a:prstGeom prst="roundRect">
            <a:avLst>
              <a:gd name="adj" fmla="val 10000"/>
            </a:avLst>
          </a:prstGeom>
          <a:solidFill>
            <a:srgbClr val="F5F7FB"/>
          </a:solidFill>
          <a:ln w="12700">
            <a:solidFill>
              <a:srgbClr val="E1E6EF"/>
            </a:solidFill>
            <a:prstDash val="solid"/>
          </a:ln>
        </p:spPr>
      </p:sp>
      <p:sp>
        <p:nvSpPr>
          <p:cNvPr id="16" name="Text 14"/>
          <p:cNvSpPr/>
          <p:nvPr/>
        </p:nvSpPr>
        <p:spPr>
          <a:xfrm>
            <a:off x="7945496" y="2811780"/>
            <a:ext cx="1618488" cy="292608"/>
          </a:xfrm>
          <a:prstGeom prst="rect">
            <a:avLst/>
          </a:prstGeom>
          <a:noFill/>
          <a:ln/>
        </p:spPr>
        <p:txBody>
          <a:bodyPr wrap="square" rtlCol="0" anchor="ctr"/>
          <a:lstStyle/>
          <a:p>
            <a:pPr marL="0" indent="0" algn="ctr">
              <a:buNone/>
            </a:pPr>
            <a:r>
              <a:rPr lang="en-US" sz="1350" b="1" dirty="0">
                <a:solidFill>
                  <a:srgbClr val="0B1E3D"/>
                </a:solidFill>
                <a:latin typeface="Arial" pitchFamily="34" charset="0"/>
                <a:ea typeface="Arial" pitchFamily="34" charset="-122"/>
                <a:cs typeface="Arial" pitchFamily="34" charset="-120"/>
              </a:rPr>
              <a:t>DimProduct</a:t>
            </a:r>
            <a:endParaRPr lang="en-US" sz="1350" dirty="0"/>
          </a:p>
        </p:txBody>
      </p:sp>
      <p:sp>
        <p:nvSpPr>
          <p:cNvPr id="17" name="Text 15"/>
          <p:cNvSpPr/>
          <p:nvPr/>
        </p:nvSpPr>
        <p:spPr>
          <a:xfrm>
            <a:off x="7908920" y="3086100"/>
            <a:ext cx="1691640" cy="329184"/>
          </a:xfrm>
          <a:prstGeom prst="rect">
            <a:avLst/>
          </a:prstGeom>
          <a:noFill/>
          <a:ln/>
        </p:spPr>
        <p:txBody>
          <a:bodyPr wrap="square" rtlCol="0" anchor="t"/>
          <a:lstStyle/>
          <a:p>
            <a:pPr marL="0" indent="0" algn="ctr">
              <a:buNone/>
            </a:pPr>
            <a:r>
              <a:rPr lang="en-US" sz="950" dirty="0">
                <a:solidFill>
                  <a:srgbClr val="51617C"/>
                </a:solidFill>
                <a:latin typeface="Arial" pitchFamily="34" charset="0"/>
                <a:ea typeface="Arial" pitchFamily="34" charset="-122"/>
                <a:cs typeface="Arial" pitchFamily="34" charset="-120"/>
              </a:rPr>
              <a:t>Product, category &amp; pricing</a:t>
            </a:r>
            <a:endParaRPr lang="en-US" sz="950" dirty="0"/>
          </a:p>
        </p:txBody>
      </p:sp>
      <p:sp>
        <p:nvSpPr>
          <p:cNvPr id="18" name="Shape 16"/>
          <p:cNvSpPr/>
          <p:nvPr/>
        </p:nvSpPr>
        <p:spPr>
          <a:xfrm>
            <a:off x="7817480" y="4137660"/>
            <a:ext cx="1874520" cy="731520"/>
          </a:xfrm>
          <a:prstGeom prst="roundRect">
            <a:avLst>
              <a:gd name="adj" fmla="val 10000"/>
            </a:avLst>
          </a:prstGeom>
          <a:solidFill>
            <a:srgbClr val="F5F7FB"/>
          </a:solidFill>
          <a:ln w="12700">
            <a:solidFill>
              <a:srgbClr val="E1E6EF"/>
            </a:solidFill>
            <a:prstDash val="solid"/>
          </a:ln>
        </p:spPr>
      </p:sp>
      <p:sp>
        <p:nvSpPr>
          <p:cNvPr id="19" name="Text 17"/>
          <p:cNvSpPr/>
          <p:nvPr/>
        </p:nvSpPr>
        <p:spPr>
          <a:xfrm>
            <a:off x="7945496" y="4229100"/>
            <a:ext cx="1618488" cy="292608"/>
          </a:xfrm>
          <a:prstGeom prst="rect">
            <a:avLst/>
          </a:prstGeom>
          <a:noFill/>
          <a:ln/>
        </p:spPr>
        <p:txBody>
          <a:bodyPr wrap="square" rtlCol="0" anchor="ctr"/>
          <a:lstStyle/>
          <a:p>
            <a:pPr marL="0" indent="0" algn="ctr">
              <a:buNone/>
            </a:pPr>
            <a:r>
              <a:rPr lang="en-US" sz="1350" b="1" dirty="0">
                <a:solidFill>
                  <a:srgbClr val="0B1E3D"/>
                </a:solidFill>
                <a:latin typeface="Arial" pitchFamily="34" charset="0"/>
                <a:ea typeface="Arial" pitchFamily="34" charset="-122"/>
                <a:cs typeface="Arial" pitchFamily="34" charset="-120"/>
              </a:rPr>
              <a:t>DimCustomer</a:t>
            </a:r>
            <a:endParaRPr lang="en-US" sz="1350" dirty="0"/>
          </a:p>
        </p:txBody>
      </p:sp>
      <p:sp>
        <p:nvSpPr>
          <p:cNvPr id="20" name="Text 18"/>
          <p:cNvSpPr/>
          <p:nvPr/>
        </p:nvSpPr>
        <p:spPr>
          <a:xfrm>
            <a:off x="7908920" y="4503420"/>
            <a:ext cx="1691640" cy="329184"/>
          </a:xfrm>
          <a:prstGeom prst="rect">
            <a:avLst/>
          </a:prstGeom>
          <a:noFill/>
          <a:ln/>
        </p:spPr>
        <p:txBody>
          <a:bodyPr wrap="square" rtlCol="0" anchor="t"/>
          <a:lstStyle/>
          <a:p>
            <a:pPr marL="0" indent="0" algn="ctr">
              <a:buNone/>
            </a:pPr>
            <a:r>
              <a:rPr lang="en-US" sz="950" dirty="0">
                <a:solidFill>
                  <a:srgbClr val="51617C"/>
                </a:solidFill>
                <a:latin typeface="Arial" pitchFamily="34" charset="0"/>
                <a:ea typeface="Arial" pitchFamily="34" charset="-122"/>
                <a:cs typeface="Arial" pitchFamily="34" charset="-120"/>
              </a:rPr>
              <a:t>Individual &amp; store accounts</a:t>
            </a:r>
            <a:endParaRPr lang="en-US" sz="950" dirty="0"/>
          </a:p>
        </p:txBody>
      </p:sp>
      <p:sp>
        <p:nvSpPr>
          <p:cNvPr id="21" name="Shape 19"/>
          <p:cNvSpPr/>
          <p:nvPr/>
        </p:nvSpPr>
        <p:spPr>
          <a:xfrm>
            <a:off x="5006340" y="4846320"/>
            <a:ext cx="1874520" cy="731520"/>
          </a:xfrm>
          <a:prstGeom prst="roundRect">
            <a:avLst>
              <a:gd name="adj" fmla="val 10000"/>
            </a:avLst>
          </a:prstGeom>
          <a:solidFill>
            <a:srgbClr val="F5F7FB"/>
          </a:solidFill>
          <a:ln w="12700">
            <a:solidFill>
              <a:srgbClr val="E1E6EF"/>
            </a:solidFill>
            <a:prstDash val="solid"/>
          </a:ln>
        </p:spPr>
      </p:sp>
      <p:sp>
        <p:nvSpPr>
          <p:cNvPr id="22" name="Text 20"/>
          <p:cNvSpPr/>
          <p:nvPr/>
        </p:nvSpPr>
        <p:spPr>
          <a:xfrm>
            <a:off x="5134356" y="4937760"/>
            <a:ext cx="1618488" cy="292608"/>
          </a:xfrm>
          <a:prstGeom prst="rect">
            <a:avLst/>
          </a:prstGeom>
          <a:noFill/>
          <a:ln/>
        </p:spPr>
        <p:txBody>
          <a:bodyPr wrap="square" rtlCol="0" anchor="ctr"/>
          <a:lstStyle/>
          <a:p>
            <a:pPr marL="0" indent="0" algn="ctr">
              <a:buNone/>
            </a:pPr>
            <a:r>
              <a:rPr lang="en-US" sz="1350" b="1" dirty="0">
                <a:solidFill>
                  <a:srgbClr val="0B1E3D"/>
                </a:solidFill>
                <a:latin typeface="Arial" pitchFamily="34" charset="0"/>
                <a:ea typeface="Arial" pitchFamily="34" charset="-122"/>
                <a:cs typeface="Arial" pitchFamily="34" charset="-120"/>
              </a:rPr>
              <a:t>DimGeography</a:t>
            </a:r>
            <a:endParaRPr lang="en-US" sz="1350" dirty="0"/>
          </a:p>
        </p:txBody>
      </p:sp>
      <p:sp>
        <p:nvSpPr>
          <p:cNvPr id="23" name="Text 21"/>
          <p:cNvSpPr/>
          <p:nvPr/>
        </p:nvSpPr>
        <p:spPr>
          <a:xfrm>
            <a:off x="5097780" y="5212080"/>
            <a:ext cx="1691640" cy="329184"/>
          </a:xfrm>
          <a:prstGeom prst="rect">
            <a:avLst/>
          </a:prstGeom>
          <a:noFill/>
          <a:ln/>
        </p:spPr>
        <p:txBody>
          <a:bodyPr wrap="square" rtlCol="0" anchor="t"/>
          <a:lstStyle/>
          <a:p>
            <a:pPr marL="0" indent="0" algn="ctr">
              <a:buNone/>
            </a:pPr>
            <a:r>
              <a:rPr lang="en-US" sz="950" dirty="0">
                <a:solidFill>
                  <a:srgbClr val="51617C"/>
                </a:solidFill>
                <a:latin typeface="Arial" pitchFamily="34" charset="0"/>
                <a:ea typeface="Arial" pitchFamily="34" charset="-122"/>
                <a:cs typeface="Arial" pitchFamily="34" charset="-120"/>
              </a:rPr>
              <a:t>Ship-to address &amp; territory</a:t>
            </a:r>
            <a:endParaRPr lang="en-US" sz="950" dirty="0"/>
          </a:p>
        </p:txBody>
      </p:sp>
      <p:sp>
        <p:nvSpPr>
          <p:cNvPr id="24" name="Shape 22"/>
          <p:cNvSpPr/>
          <p:nvPr/>
        </p:nvSpPr>
        <p:spPr>
          <a:xfrm>
            <a:off x="2195200" y="4137660"/>
            <a:ext cx="1874520" cy="731520"/>
          </a:xfrm>
          <a:prstGeom prst="roundRect">
            <a:avLst>
              <a:gd name="adj" fmla="val 10000"/>
            </a:avLst>
          </a:prstGeom>
          <a:solidFill>
            <a:srgbClr val="F5F7FB"/>
          </a:solidFill>
          <a:ln w="12700">
            <a:solidFill>
              <a:srgbClr val="E1E6EF"/>
            </a:solidFill>
            <a:prstDash val="solid"/>
          </a:ln>
        </p:spPr>
      </p:sp>
      <p:sp>
        <p:nvSpPr>
          <p:cNvPr id="25" name="Text 23"/>
          <p:cNvSpPr/>
          <p:nvPr/>
        </p:nvSpPr>
        <p:spPr>
          <a:xfrm>
            <a:off x="2323216" y="4229100"/>
            <a:ext cx="1618488" cy="292608"/>
          </a:xfrm>
          <a:prstGeom prst="rect">
            <a:avLst/>
          </a:prstGeom>
          <a:noFill/>
          <a:ln/>
        </p:spPr>
        <p:txBody>
          <a:bodyPr wrap="square" rtlCol="0" anchor="ctr"/>
          <a:lstStyle/>
          <a:p>
            <a:pPr marL="0" indent="0" algn="ctr">
              <a:buNone/>
            </a:pPr>
            <a:r>
              <a:rPr lang="en-US" sz="1350" b="1" dirty="0">
                <a:solidFill>
                  <a:srgbClr val="0B1E3D"/>
                </a:solidFill>
                <a:latin typeface="Arial" pitchFamily="34" charset="0"/>
                <a:ea typeface="Arial" pitchFamily="34" charset="-122"/>
                <a:cs typeface="Arial" pitchFamily="34" charset="-120"/>
              </a:rPr>
              <a:t>DimShipMethod</a:t>
            </a:r>
            <a:endParaRPr lang="en-US" sz="1350" dirty="0"/>
          </a:p>
        </p:txBody>
      </p:sp>
      <p:sp>
        <p:nvSpPr>
          <p:cNvPr id="26" name="Text 24"/>
          <p:cNvSpPr/>
          <p:nvPr/>
        </p:nvSpPr>
        <p:spPr>
          <a:xfrm>
            <a:off x="2286640" y="4503420"/>
            <a:ext cx="1691640" cy="329184"/>
          </a:xfrm>
          <a:prstGeom prst="rect">
            <a:avLst/>
          </a:prstGeom>
          <a:noFill/>
          <a:ln/>
        </p:spPr>
        <p:txBody>
          <a:bodyPr wrap="square" rtlCol="0" anchor="t"/>
          <a:lstStyle/>
          <a:p>
            <a:pPr marL="0" indent="0" algn="ctr">
              <a:buNone/>
            </a:pPr>
            <a:r>
              <a:rPr lang="en-US" sz="950" dirty="0">
                <a:solidFill>
                  <a:srgbClr val="51617C"/>
                </a:solidFill>
                <a:latin typeface="Arial" pitchFamily="34" charset="0"/>
                <a:ea typeface="Arial" pitchFamily="34" charset="-122"/>
                <a:cs typeface="Arial" pitchFamily="34" charset="-120"/>
              </a:rPr>
              <a:t>Carrier &amp; shipping rates</a:t>
            </a:r>
            <a:endParaRPr lang="en-US" sz="950" dirty="0"/>
          </a:p>
        </p:txBody>
      </p:sp>
      <p:sp>
        <p:nvSpPr>
          <p:cNvPr id="27" name="Shape 25"/>
          <p:cNvSpPr/>
          <p:nvPr/>
        </p:nvSpPr>
        <p:spPr>
          <a:xfrm>
            <a:off x="2195200" y="2720340"/>
            <a:ext cx="1874520" cy="731520"/>
          </a:xfrm>
          <a:prstGeom prst="roundRect">
            <a:avLst>
              <a:gd name="adj" fmla="val 10000"/>
            </a:avLst>
          </a:prstGeom>
          <a:solidFill>
            <a:srgbClr val="F5F7FB"/>
          </a:solidFill>
          <a:ln w="12700">
            <a:solidFill>
              <a:srgbClr val="E1E6EF"/>
            </a:solidFill>
            <a:prstDash val="solid"/>
          </a:ln>
        </p:spPr>
      </p:sp>
      <p:sp>
        <p:nvSpPr>
          <p:cNvPr id="28" name="Text 26"/>
          <p:cNvSpPr/>
          <p:nvPr/>
        </p:nvSpPr>
        <p:spPr>
          <a:xfrm>
            <a:off x="2323216" y="2811780"/>
            <a:ext cx="1618488" cy="292608"/>
          </a:xfrm>
          <a:prstGeom prst="rect">
            <a:avLst/>
          </a:prstGeom>
          <a:noFill/>
          <a:ln/>
        </p:spPr>
        <p:txBody>
          <a:bodyPr wrap="square" rtlCol="0" anchor="ctr"/>
          <a:lstStyle/>
          <a:p>
            <a:pPr marL="0" indent="0" algn="ctr">
              <a:buNone/>
            </a:pPr>
            <a:r>
              <a:rPr lang="en-US" sz="1350" b="1" dirty="0">
                <a:solidFill>
                  <a:srgbClr val="0B1E3D"/>
                </a:solidFill>
                <a:latin typeface="Arial" pitchFamily="34" charset="0"/>
                <a:ea typeface="Arial" pitchFamily="34" charset="-122"/>
                <a:cs typeface="Arial" pitchFamily="34" charset="-120"/>
              </a:rPr>
              <a:t>DimCreditCard</a:t>
            </a:r>
            <a:endParaRPr lang="en-US" sz="1350" dirty="0"/>
          </a:p>
        </p:txBody>
      </p:sp>
      <p:sp>
        <p:nvSpPr>
          <p:cNvPr id="29" name="Text 27"/>
          <p:cNvSpPr/>
          <p:nvPr/>
        </p:nvSpPr>
        <p:spPr>
          <a:xfrm>
            <a:off x="2286640" y="3086100"/>
            <a:ext cx="1691640" cy="329184"/>
          </a:xfrm>
          <a:prstGeom prst="rect">
            <a:avLst/>
          </a:prstGeom>
          <a:noFill/>
          <a:ln/>
        </p:spPr>
        <p:txBody>
          <a:bodyPr wrap="square" rtlCol="0" anchor="t"/>
          <a:lstStyle/>
          <a:p>
            <a:pPr marL="0" indent="0" algn="ctr">
              <a:buNone/>
            </a:pPr>
            <a:r>
              <a:rPr lang="en-US" sz="950" dirty="0">
                <a:solidFill>
                  <a:srgbClr val="51617C"/>
                </a:solidFill>
                <a:latin typeface="Arial" pitchFamily="34" charset="0"/>
                <a:ea typeface="Arial" pitchFamily="34" charset="-122"/>
                <a:cs typeface="Arial" pitchFamily="34" charset="-120"/>
              </a:rPr>
              <a:t>Masked payment details</a:t>
            </a:r>
            <a:endParaRPr lang="en-US" sz="950" dirty="0"/>
          </a:p>
        </p:txBody>
      </p:sp>
      <p:sp>
        <p:nvSpPr>
          <p:cNvPr id="30" name="Shape 28"/>
          <p:cNvSpPr/>
          <p:nvPr/>
        </p:nvSpPr>
        <p:spPr>
          <a:xfrm>
            <a:off x="4892040" y="3360420"/>
            <a:ext cx="2103120" cy="868680"/>
          </a:xfrm>
          <a:prstGeom prst="roundRect">
            <a:avLst>
              <a:gd name="adj" fmla="val 8421"/>
            </a:avLst>
          </a:prstGeom>
          <a:solidFill>
            <a:srgbClr val="0B1E3D"/>
          </a:solidFill>
          <a:ln/>
        </p:spPr>
      </p:sp>
      <p:sp>
        <p:nvSpPr>
          <p:cNvPr id="31" name="Text 29"/>
          <p:cNvSpPr/>
          <p:nvPr/>
        </p:nvSpPr>
        <p:spPr>
          <a:xfrm>
            <a:off x="5020056" y="3451860"/>
            <a:ext cx="1847088" cy="292608"/>
          </a:xfrm>
          <a:prstGeom prst="rect">
            <a:avLst/>
          </a:prstGeom>
          <a:noFill/>
          <a:ln/>
        </p:spPr>
        <p:txBody>
          <a:bodyPr wrap="square" rtlCol="0" anchor="ctr"/>
          <a:lstStyle/>
          <a:p>
            <a:pPr marL="0" indent="0" algn="ctr">
              <a:buNone/>
            </a:pPr>
            <a:r>
              <a:rPr lang="en-US" sz="1600" b="1" dirty="0">
                <a:solidFill>
                  <a:srgbClr val="FF8A42"/>
                </a:solidFill>
                <a:latin typeface="Arial" pitchFamily="34" charset="0"/>
                <a:ea typeface="Arial" pitchFamily="34" charset="-122"/>
                <a:cs typeface="Arial" pitchFamily="34" charset="-120"/>
              </a:rPr>
              <a:t>FactSales</a:t>
            </a:r>
            <a:endParaRPr lang="en-US" sz="1600" dirty="0"/>
          </a:p>
        </p:txBody>
      </p:sp>
      <p:sp>
        <p:nvSpPr>
          <p:cNvPr id="32" name="Text 30"/>
          <p:cNvSpPr/>
          <p:nvPr/>
        </p:nvSpPr>
        <p:spPr>
          <a:xfrm>
            <a:off x="4983480" y="3762756"/>
            <a:ext cx="1920240" cy="411480"/>
          </a:xfrm>
          <a:prstGeom prst="rect">
            <a:avLst/>
          </a:prstGeom>
          <a:noFill/>
          <a:ln/>
        </p:spPr>
        <p:txBody>
          <a:bodyPr wrap="square" rtlCol="0" anchor="t"/>
          <a:lstStyle/>
          <a:p>
            <a:pPr marL="0" indent="0" algn="ctr">
              <a:buNone/>
            </a:pPr>
            <a:r>
              <a:rPr lang="en-US" sz="1050" dirty="0">
                <a:solidFill>
                  <a:srgbClr val="C9D2E0"/>
                </a:solidFill>
                <a:latin typeface="Arial" pitchFamily="34" charset="0"/>
                <a:ea typeface="Arial" pitchFamily="34" charset="-122"/>
                <a:cs typeface="Arial" pitchFamily="34" charset="-120"/>
              </a:rPr>
              <a:t>One row per order line item</a:t>
            </a:r>
            <a:endParaRPr lang="en-US" sz="1050" dirty="0"/>
          </a:p>
        </p:txBody>
      </p:sp>
      <p:sp>
        <p:nvSpPr>
          <p:cNvPr id="33" name="Text 31"/>
          <p:cNvSpPr/>
          <p:nvPr/>
        </p:nvSpPr>
        <p:spPr>
          <a:xfrm>
            <a:off x="548640" y="5989320"/>
            <a:ext cx="11094415" cy="320040"/>
          </a:xfrm>
          <a:prstGeom prst="rect">
            <a:avLst/>
          </a:prstGeom>
          <a:noFill/>
          <a:ln/>
        </p:spPr>
        <p:txBody>
          <a:bodyPr wrap="square" rtlCol="0" anchor="ctr"/>
          <a:lstStyle/>
          <a:p>
            <a:pPr marL="0" indent="0" algn="ctr">
              <a:buNone/>
            </a:pPr>
            <a:r>
              <a:rPr lang="en-US" sz="1200" i="1" dirty="0">
                <a:solidFill>
                  <a:srgbClr val="8695AC"/>
                </a:solidFill>
                <a:latin typeface="Arial" pitchFamily="34" charset="0"/>
                <a:ea typeface="Arial" pitchFamily="34" charset="-122"/>
                <a:cs typeface="Arial" pitchFamily="34" charset="-120"/>
              </a:rPr>
              <a:t>Fewer joins, denormalized dimensions — faster Power BI queries.</a:t>
            </a:r>
            <a:endParaRPr lang="en-US" sz="1200" dirty="0"/>
          </a:p>
        </p:txBody>
      </p:sp>
      <p:sp>
        <p:nvSpPr>
          <p:cNvPr id="34" name="Shape 32"/>
          <p:cNvSpPr/>
          <p:nvPr/>
        </p:nvSpPr>
        <p:spPr>
          <a:xfrm>
            <a:off x="548640" y="6473952"/>
            <a:ext cx="146304" cy="146304"/>
          </a:xfrm>
          <a:prstGeom prst="roundRect">
            <a:avLst>
              <a:gd name="adj" fmla="val 21875"/>
            </a:avLst>
          </a:prstGeom>
          <a:solidFill>
            <a:srgbClr val="0B1E3D"/>
          </a:solidFill>
          <a:ln/>
        </p:spPr>
      </p:sp>
      <p:sp>
        <p:nvSpPr>
          <p:cNvPr id="35" name="Shape 33"/>
          <p:cNvSpPr/>
          <p:nvPr/>
        </p:nvSpPr>
        <p:spPr>
          <a:xfrm>
            <a:off x="630936" y="6556248"/>
            <a:ext cx="68580" cy="68580"/>
          </a:xfrm>
          <a:prstGeom prst="ellipse">
            <a:avLst/>
          </a:prstGeom>
          <a:solidFill>
            <a:srgbClr val="C6540E"/>
          </a:solidFill>
          <a:ln/>
        </p:spPr>
      </p:sp>
      <p:sp>
        <p:nvSpPr>
          <p:cNvPr id="36" name="Text 34"/>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37" name="Text 35"/>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08 / 15</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09</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POWER BI DATA MODEL</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Built for Fast, Trustworthy Analysis</a:t>
            </a:r>
            <a:endParaRPr lang="en-US" sz="3200" dirty="0"/>
          </a:p>
        </p:txBody>
      </p:sp>
      <p:sp>
        <p:nvSpPr>
          <p:cNvPr id="6" name="Shape 4"/>
          <p:cNvSpPr/>
          <p:nvPr/>
        </p:nvSpPr>
        <p:spPr>
          <a:xfrm>
            <a:off x="548640" y="2560320"/>
            <a:ext cx="457200" cy="457200"/>
          </a:xfrm>
          <a:prstGeom prst="roundRect">
            <a:avLst>
              <a:gd name="adj" fmla="val 24000"/>
            </a:avLst>
          </a:prstGeom>
          <a:solidFill>
            <a:srgbClr val="F8EAE2"/>
          </a:solidFill>
          <a:ln/>
        </p:spPr>
      </p:sp>
      <p:pic>
        <p:nvPicPr>
          <p:cNvPr id="7" name="Image 0" descr="/home/claude/pptx_build/icons/star_accent.png"/>
          <p:cNvPicPr>
            <a:picLocks noChangeAspect="1"/>
          </p:cNvPicPr>
          <p:nvPr/>
        </p:nvPicPr>
        <p:blipFill>
          <a:blip r:embed="rId3"/>
          <a:stretch>
            <a:fillRect/>
          </a:stretch>
        </p:blipFill>
        <p:spPr>
          <a:xfrm>
            <a:off x="640080" y="2651760"/>
            <a:ext cx="274320" cy="274320"/>
          </a:xfrm>
          <a:prstGeom prst="rect">
            <a:avLst/>
          </a:prstGeom>
        </p:spPr>
      </p:pic>
      <p:sp>
        <p:nvSpPr>
          <p:cNvPr id="8" name="Text 5"/>
          <p:cNvSpPr/>
          <p:nvPr/>
        </p:nvSpPr>
        <p:spPr>
          <a:xfrm>
            <a:off x="1207008" y="2331720"/>
            <a:ext cx="10271455" cy="914400"/>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One-to-many relationships from each dimension to FactSales</a:t>
            </a:r>
            <a:endParaRPr lang="en-US" sz="1600" dirty="0"/>
          </a:p>
        </p:txBody>
      </p:sp>
      <p:sp>
        <p:nvSpPr>
          <p:cNvPr id="9" name="Shape 6"/>
          <p:cNvSpPr/>
          <p:nvPr/>
        </p:nvSpPr>
        <p:spPr>
          <a:xfrm>
            <a:off x="548640" y="3474720"/>
            <a:ext cx="457200" cy="457200"/>
          </a:xfrm>
          <a:prstGeom prst="roundRect">
            <a:avLst>
              <a:gd name="adj" fmla="val 24000"/>
            </a:avLst>
          </a:prstGeom>
          <a:solidFill>
            <a:srgbClr val="F8EAE2"/>
          </a:solidFill>
          <a:ln/>
        </p:spPr>
      </p:sp>
      <p:pic>
        <p:nvPicPr>
          <p:cNvPr id="10" name="Image 1" descr="/home/claude/pptx_build/icons/cal_accent.png"/>
          <p:cNvPicPr>
            <a:picLocks noChangeAspect="1"/>
          </p:cNvPicPr>
          <p:nvPr/>
        </p:nvPicPr>
        <p:blipFill>
          <a:blip r:embed="rId4"/>
          <a:stretch>
            <a:fillRect/>
          </a:stretch>
        </p:blipFill>
        <p:spPr>
          <a:xfrm>
            <a:off x="640080" y="3566160"/>
            <a:ext cx="274320" cy="274320"/>
          </a:xfrm>
          <a:prstGeom prst="rect">
            <a:avLst/>
          </a:prstGeom>
        </p:spPr>
      </p:pic>
      <p:sp>
        <p:nvSpPr>
          <p:cNvPr id="11" name="Text 7"/>
          <p:cNvSpPr/>
          <p:nvPr/>
        </p:nvSpPr>
        <p:spPr>
          <a:xfrm>
            <a:off x="1207008" y="3246120"/>
            <a:ext cx="10271455" cy="914400"/>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Physical DimDate table (2010–2025) drives time intelligence</a:t>
            </a:r>
            <a:endParaRPr lang="en-US" sz="1600" dirty="0"/>
          </a:p>
        </p:txBody>
      </p:sp>
      <p:sp>
        <p:nvSpPr>
          <p:cNvPr id="12" name="Shape 8"/>
          <p:cNvSpPr/>
          <p:nvPr/>
        </p:nvSpPr>
        <p:spPr>
          <a:xfrm>
            <a:off x="548640" y="4389120"/>
            <a:ext cx="457200" cy="457200"/>
          </a:xfrm>
          <a:prstGeom prst="roundRect">
            <a:avLst>
              <a:gd name="adj" fmla="val 24000"/>
            </a:avLst>
          </a:prstGeom>
          <a:solidFill>
            <a:srgbClr val="F8EAE2"/>
          </a:solidFill>
          <a:ln/>
        </p:spPr>
      </p:sp>
      <p:pic>
        <p:nvPicPr>
          <p:cNvPr id="13" name="Image 2" descr="/home/claude/pptx_build/icons/gear_accent.png"/>
          <p:cNvPicPr>
            <a:picLocks noChangeAspect="1"/>
          </p:cNvPicPr>
          <p:nvPr/>
        </p:nvPicPr>
        <p:blipFill>
          <a:blip r:embed="rId5"/>
          <a:stretch>
            <a:fillRect/>
          </a:stretch>
        </p:blipFill>
        <p:spPr>
          <a:xfrm>
            <a:off x="640080" y="4480560"/>
            <a:ext cx="274320" cy="274320"/>
          </a:xfrm>
          <a:prstGeom prst="rect">
            <a:avLst/>
          </a:prstGeom>
        </p:spPr>
      </p:pic>
      <p:sp>
        <p:nvSpPr>
          <p:cNvPr id="14" name="Text 9"/>
          <p:cNvSpPr/>
          <p:nvPr/>
        </p:nvSpPr>
        <p:spPr>
          <a:xfrm>
            <a:off x="1207008" y="4160520"/>
            <a:ext cx="10271455" cy="914400"/>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DAX measures power KPIs, growth % &amp; ratios</a:t>
            </a:r>
            <a:endParaRPr lang="en-US" sz="1600" dirty="0"/>
          </a:p>
        </p:txBody>
      </p:sp>
      <p:sp>
        <p:nvSpPr>
          <p:cNvPr id="15" name="Shape 10"/>
          <p:cNvSpPr/>
          <p:nvPr/>
        </p:nvSpPr>
        <p:spPr>
          <a:xfrm>
            <a:off x="548640" y="5303520"/>
            <a:ext cx="457200" cy="457200"/>
          </a:xfrm>
          <a:prstGeom prst="roundRect">
            <a:avLst>
              <a:gd name="adj" fmla="val 24000"/>
            </a:avLst>
          </a:prstGeom>
          <a:solidFill>
            <a:srgbClr val="F8EAE2"/>
          </a:solidFill>
          <a:ln/>
        </p:spPr>
      </p:sp>
      <p:pic>
        <p:nvPicPr>
          <p:cNvPr id="16" name="Image 3" descr="/home/claude/pptx_build/icons/monitor_accent.png"/>
          <p:cNvPicPr>
            <a:picLocks noChangeAspect="1"/>
          </p:cNvPicPr>
          <p:nvPr/>
        </p:nvPicPr>
        <p:blipFill>
          <a:blip r:embed="rId6"/>
          <a:stretch>
            <a:fillRect/>
          </a:stretch>
        </p:blipFill>
        <p:spPr>
          <a:xfrm>
            <a:off x="640080" y="5394960"/>
            <a:ext cx="274320" cy="274320"/>
          </a:xfrm>
          <a:prstGeom prst="rect">
            <a:avLst/>
          </a:prstGeom>
        </p:spPr>
      </p:pic>
      <p:sp>
        <p:nvSpPr>
          <p:cNvPr id="17" name="Text 11"/>
          <p:cNvSpPr/>
          <p:nvPr/>
        </p:nvSpPr>
        <p:spPr>
          <a:xfrm>
            <a:off x="1207008" y="5074920"/>
            <a:ext cx="10271455" cy="914400"/>
          </a:xfrm>
          <a:prstGeom prst="rect">
            <a:avLst/>
          </a:prstGeom>
          <a:noFill/>
          <a:ln/>
        </p:spPr>
        <p:txBody>
          <a:bodyPr wrap="square" rtlCol="0" anchor="ctr"/>
          <a:lstStyle/>
          <a:p>
            <a:pPr marL="0" indent="0" algn="l">
              <a:buNone/>
            </a:pPr>
            <a:r>
              <a:rPr lang="en-US" sz="1600" b="1" dirty="0">
                <a:solidFill>
                  <a:srgbClr val="0B1E3D"/>
                </a:solidFill>
                <a:latin typeface="Arial" pitchFamily="34" charset="0"/>
                <a:ea typeface="Arial" pitchFamily="34" charset="-122"/>
                <a:cs typeface="Arial" pitchFamily="34" charset="-120"/>
              </a:rPr>
              <a:t>Import Mode — fast, in-memory performance for DAX</a:t>
            </a:r>
            <a:endParaRPr lang="en-US" sz="1600" dirty="0"/>
          </a:p>
        </p:txBody>
      </p:sp>
      <p:sp>
        <p:nvSpPr>
          <p:cNvPr id="18" name="Shape 12"/>
          <p:cNvSpPr/>
          <p:nvPr/>
        </p:nvSpPr>
        <p:spPr>
          <a:xfrm>
            <a:off x="548640" y="6473952"/>
            <a:ext cx="146304" cy="146304"/>
          </a:xfrm>
          <a:prstGeom prst="roundRect">
            <a:avLst>
              <a:gd name="adj" fmla="val 21875"/>
            </a:avLst>
          </a:prstGeom>
          <a:solidFill>
            <a:srgbClr val="0B1E3D"/>
          </a:solidFill>
          <a:ln/>
        </p:spPr>
      </p:sp>
      <p:sp>
        <p:nvSpPr>
          <p:cNvPr id="19" name="Shape 13"/>
          <p:cNvSpPr/>
          <p:nvPr/>
        </p:nvSpPr>
        <p:spPr>
          <a:xfrm>
            <a:off x="630936" y="6556248"/>
            <a:ext cx="68580" cy="68580"/>
          </a:xfrm>
          <a:prstGeom prst="ellipse">
            <a:avLst/>
          </a:prstGeom>
          <a:solidFill>
            <a:srgbClr val="C6540E"/>
          </a:solidFill>
          <a:ln/>
        </p:spPr>
      </p:sp>
      <p:sp>
        <p:nvSpPr>
          <p:cNvPr id="20" name="Text 14"/>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21" name="Text 15"/>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09 / 15</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DASHBOARD OVERVIEW</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Five Pages, Five Audiences</a:t>
            </a:r>
            <a:endParaRPr lang="en-US" sz="3200" dirty="0"/>
          </a:p>
        </p:txBody>
      </p:sp>
      <p:sp>
        <p:nvSpPr>
          <p:cNvPr id="6" name="Shape 4"/>
          <p:cNvSpPr/>
          <p:nvPr/>
        </p:nvSpPr>
        <p:spPr>
          <a:xfrm>
            <a:off x="548640" y="1920240"/>
            <a:ext cx="2057949" cy="3291840"/>
          </a:xfrm>
          <a:prstGeom prst="roundRect">
            <a:avLst>
              <a:gd name="adj" fmla="val 3555"/>
            </a:avLst>
          </a:prstGeom>
          <a:solidFill>
            <a:srgbClr val="F5F7FB"/>
          </a:solidFill>
          <a:ln w="12700">
            <a:solidFill>
              <a:srgbClr val="E1E6EF"/>
            </a:solidFill>
            <a:prstDash val="solid"/>
          </a:ln>
        </p:spPr>
      </p:sp>
      <p:sp>
        <p:nvSpPr>
          <p:cNvPr id="7" name="Shape 5"/>
          <p:cNvSpPr/>
          <p:nvPr/>
        </p:nvSpPr>
        <p:spPr>
          <a:xfrm>
            <a:off x="749808" y="2121408"/>
            <a:ext cx="502920" cy="502920"/>
          </a:xfrm>
          <a:prstGeom prst="roundRect">
            <a:avLst>
              <a:gd name="adj" fmla="val 23636"/>
            </a:avLst>
          </a:prstGeom>
          <a:solidFill>
            <a:srgbClr val="0B1E3D"/>
          </a:solidFill>
          <a:ln/>
        </p:spPr>
      </p:sp>
      <p:pic>
        <p:nvPicPr>
          <p:cNvPr id="8" name="Image 0" descr="/home/claude/pptx_build/icons/target_bright.png"/>
          <p:cNvPicPr>
            <a:picLocks noChangeAspect="1"/>
          </p:cNvPicPr>
          <p:nvPr/>
        </p:nvPicPr>
        <p:blipFill>
          <a:blip r:embed="rId3"/>
          <a:stretch>
            <a:fillRect/>
          </a:stretch>
        </p:blipFill>
        <p:spPr>
          <a:xfrm>
            <a:off x="860450" y="2232050"/>
            <a:ext cx="281635" cy="281635"/>
          </a:xfrm>
          <a:prstGeom prst="rect">
            <a:avLst/>
          </a:prstGeom>
        </p:spPr>
      </p:pic>
      <p:sp>
        <p:nvSpPr>
          <p:cNvPr id="9" name="Text 6"/>
          <p:cNvSpPr/>
          <p:nvPr/>
        </p:nvSpPr>
        <p:spPr>
          <a:xfrm>
            <a:off x="749808" y="2752344"/>
            <a:ext cx="1655613" cy="219456"/>
          </a:xfrm>
          <a:prstGeom prst="rect">
            <a:avLst/>
          </a:prstGeom>
          <a:noFill/>
          <a:ln/>
        </p:spPr>
        <p:txBody>
          <a:bodyPr wrap="square" rtlCol="0" anchor="ctr"/>
          <a:lstStyle/>
          <a:p>
            <a:pPr marL="0" indent="0" algn="l">
              <a:buNone/>
            </a:pPr>
            <a:r>
              <a:rPr lang="en-US" sz="950" b="1" kern="0" spc="150" dirty="0">
                <a:solidFill>
                  <a:srgbClr val="C6540E"/>
                </a:solidFill>
                <a:latin typeface="Arial" pitchFamily="34" charset="0"/>
                <a:ea typeface="Arial" pitchFamily="34" charset="-122"/>
                <a:cs typeface="Arial" pitchFamily="34" charset="-120"/>
              </a:rPr>
              <a:t>LEADERSHIP</a:t>
            </a:r>
            <a:endParaRPr lang="en-US" sz="950" dirty="0"/>
          </a:p>
        </p:txBody>
      </p:sp>
      <p:sp>
        <p:nvSpPr>
          <p:cNvPr id="10" name="Text 7"/>
          <p:cNvSpPr/>
          <p:nvPr/>
        </p:nvSpPr>
        <p:spPr>
          <a:xfrm>
            <a:off x="749808" y="3008376"/>
            <a:ext cx="1655613" cy="530352"/>
          </a:xfrm>
          <a:prstGeom prst="rect">
            <a:avLst/>
          </a:prstGeom>
          <a:noFill/>
          <a:ln/>
        </p:spPr>
        <p:txBody>
          <a:bodyPr wrap="square" rtlCol="0" anchor="t"/>
          <a:lstStyle/>
          <a:p>
            <a:pPr marL="0" indent="0" algn="l">
              <a:lnSpc>
                <a:spcPct val="108000"/>
              </a:lnSpc>
              <a:buNone/>
            </a:pPr>
            <a:r>
              <a:rPr lang="en-US" sz="1450" b="1" dirty="0">
                <a:solidFill>
                  <a:srgbClr val="0B1E3D"/>
                </a:solidFill>
                <a:latin typeface="Arial" pitchFamily="34" charset="0"/>
                <a:ea typeface="Arial" pitchFamily="34" charset="-122"/>
                <a:cs typeface="Arial" pitchFamily="34" charset="-120"/>
              </a:rPr>
              <a:t>Executive Overview &amp; KPIs</a:t>
            </a:r>
            <a:endParaRPr lang="en-US" sz="1450" dirty="0"/>
          </a:p>
        </p:txBody>
      </p:sp>
      <p:sp>
        <p:nvSpPr>
          <p:cNvPr id="11" name="Text 8"/>
          <p:cNvSpPr/>
          <p:nvPr/>
        </p:nvSpPr>
        <p:spPr>
          <a:xfrm>
            <a:off x="749808" y="3575304"/>
            <a:ext cx="1655613" cy="1499616"/>
          </a:xfrm>
          <a:prstGeom prst="rect">
            <a:avLst/>
          </a:prstGeom>
          <a:noFill/>
          <a:ln/>
        </p:spPr>
        <p:txBody>
          <a:bodyPr wrap="square" rtlCol="0" anchor="t"/>
          <a:lstStyle/>
          <a:p>
            <a:pPr marL="0" indent="0" algn="l">
              <a:buNone/>
            </a:pPr>
            <a:r>
              <a:rPr lang="en-US" sz="1150" dirty="0">
                <a:solidFill>
                  <a:srgbClr val="51617C"/>
                </a:solidFill>
                <a:latin typeface="Arial" pitchFamily="34" charset="0"/>
                <a:ea typeface="Arial" pitchFamily="34" charset="-122"/>
                <a:cs typeface="Arial" pitchFamily="34" charset="-120"/>
              </a:rPr>
              <a:t>A 10-second pulse check on the business</a:t>
            </a:r>
            <a:endParaRPr lang="en-US" sz="1150" dirty="0"/>
          </a:p>
        </p:txBody>
      </p:sp>
      <p:sp>
        <p:nvSpPr>
          <p:cNvPr id="12" name="Shape 9"/>
          <p:cNvSpPr/>
          <p:nvPr/>
        </p:nvSpPr>
        <p:spPr>
          <a:xfrm>
            <a:off x="2807757" y="1920240"/>
            <a:ext cx="2057949" cy="3291840"/>
          </a:xfrm>
          <a:prstGeom prst="roundRect">
            <a:avLst>
              <a:gd name="adj" fmla="val 3555"/>
            </a:avLst>
          </a:prstGeom>
          <a:solidFill>
            <a:srgbClr val="F5F7FB"/>
          </a:solidFill>
          <a:ln w="12700">
            <a:solidFill>
              <a:srgbClr val="E1E6EF"/>
            </a:solidFill>
            <a:prstDash val="solid"/>
          </a:ln>
        </p:spPr>
      </p:sp>
      <p:sp>
        <p:nvSpPr>
          <p:cNvPr id="13" name="Shape 10"/>
          <p:cNvSpPr/>
          <p:nvPr/>
        </p:nvSpPr>
        <p:spPr>
          <a:xfrm>
            <a:off x="3008925" y="2121408"/>
            <a:ext cx="502920" cy="502920"/>
          </a:xfrm>
          <a:prstGeom prst="roundRect">
            <a:avLst>
              <a:gd name="adj" fmla="val 23636"/>
            </a:avLst>
          </a:prstGeom>
          <a:solidFill>
            <a:srgbClr val="0B1E3D"/>
          </a:solidFill>
          <a:ln/>
        </p:spPr>
      </p:sp>
      <p:pic>
        <p:nvPicPr>
          <p:cNvPr id="14" name="Image 1" descr="/home/claude/pptx_build/icons/box_bright.png"/>
          <p:cNvPicPr>
            <a:picLocks noChangeAspect="1"/>
          </p:cNvPicPr>
          <p:nvPr/>
        </p:nvPicPr>
        <p:blipFill>
          <a:blip r:embed="rId4"/>
          <a:stretch>
            <a:fillRect/>
          </a:stretch>
        </p:blipFill>
        <p:spPr>
          <a:xfrm>
            <a:off x="3119567" y="2232050"/>
            <a:ext cx="281635" cy="281635"/>
          </a:xfrm>
          <a:prstGeom prst="rect">
            <a:avLst/>
          </a:prstGeom>
        </p:spPr>
      </p:pic>
      <p:sp>
        <p:nvSpPr>
          <p:cNvPr id="15" name="Text 11"/>
          <p:cNvSpPr/>
          <p:nvPr/>
        </p:nvSpPr>
        <p:spPr>
          <a:xfrm>
            <a:off x="3008925" y="2752344"/>
            <a:ext cx="1655613" cy="219456"/>
          </a:xfrm>
          <a:prstGeom prst="rect">
            <a:avLst/>
          </a:prstGeom>
          <a:noFill/>
          <a:ln/>
        </p:spPr>
        <p:txBody>
          <a:bodyPr wrap="square" rtlCol="0" anchor="ctr"/>
          <a:lstStyle/>
          <a:p>
            <a:pPr marL="0" indent="0" algn="l">
              <a:buNone/>
            </a:pPr>
            <a:r>
              <a:rPr lang="en-US" sz="950" b="1" kern="0" spc="150" dirty="0">
                <a:solidFill>
                  <a:srgbClr val="C6540E"/>
                </a:solidFill>
                <a:latin typeface="Arial" pitchFamily="34" charset="0"/>
                <a:ea typeface="Arial" pitchFamily="34" charset="-122"/>
                <a:cs typeface="Arial" pitchFamily="34" charset="-120"/>
              </a:rPr>
              <a:t>PRODUCT TEAM</a:t>
            </a:r>
            <a:endParaRPr lang="en-US" sz="950" dirty="0"/>
          </a:p>
        </p:txBody>
      </p:sp>
      <p:sp>
        <p:nvSpPr>
          <p:cNvPr id="16" name="Text 12"/>
          <p:cNvSpPr/>
          <p:nvPr/>
        </p:nvSpPr>
        <p:spPr>
          <a:xfrm>
            <a:off x="3008925" y="3008376"/>
            <a:ext cx="1655613" cy="530352"/>
          </a:xfrm>
          <a:prstGeom prst="rect">
            <a:avLst/>
          </a:prstGeom>
          <a:noFill/>
          <a:ln/>
        </p:spPr>
        <p:txBody>
          <a:bodyPr wrap="square" rtlCol="0" anchor="t"/>
          <a:lstStyle/>
          <a:p>
            <a:pPr marL="0" indent="0" algn="l">
              <a:lnSpc>
                <a:spcPct val="108000"/>
              </a:lnSpc>
              <a:buNone/>
            </a:pPr>
            <a:r>
              <a:rPr lang="en-US" sz="1450" b="1" dirty="0">
                <a:solidFill>
                  <a:srgbClr val="0B1E3D"/>
                </a:solidFill>
                <a:latin typeface="Arial" pitchFamily="34" charset="0"/>
                <a:ea typeface="Arial" pitchFamily="34" charset="-122"/>
                <a:cs typeface="Arial" pitchFamily="34" charset="-120"/>
              </a:rPr>
              <a:t>Product Performance</a:t>
            </a:r>
            <a:endParaRPr lang="en-US" sz="1450" dirty="0"/>
          </a:p>
        </p:txBody>
      </p:sp>
      <p:sp>
        <p:nvSpPr>
          <p:cNvPr id="17" name="Text 13"/>
          <p:cNvSpPr/>
          <p:nvPr/>
        </p:nvSpPr>
        <p:spPr>
          <a:xfrm>
            <a:off x="3008925" y="3575304"/>
            <a:ext cx="1655613" cy="1499616"/>
          </a:xfrm>
          <a:prstGeom prst="rect">
            <a:avLst/>
          </a:prstGeom>
          <a:noFill/>
          <a:ln/>
        </p:spPr>
        <p:txBody>
          <a:bodyPr wrap="square" rtlCol="0" anchor="t"/>
          <a:lstStyle/>
          <a:p>
            <a:pPr marL="0" indent="0" algn="l">
              <a:buNone/>
            </a:pPr>
            <a:r>
              <a:rPr lang="en-US" sz="1150" dirty="0">
                <a:solidFill>
                  <a:srgbClr val="51617C"/>
                </a:solidFill>
                <a:latin typeface="Arial" pitchFamily="34" charset="0"/>
                <a:ea typeface="Arial" pitchFamily="34" charset="-122"/>
                <a:cs typeface="Arial" pitchFamily="34" charset="-120"/>
              </a:rPr>
              <a:t>Which products &amp; categories to back</a:t>
            </a:r>
            <a:endParaRPr lang="en-US" sz="1150" dirty="0"/>
          </a:p>
        </p:txBody>
      </p:sp>
      <p:sp>
        <p:nvSpPr>
          <p:cNvPr id="18" name="Shape 14"/>
          <p:cNvSpPr/>
          <p:nvPr/>
        </p:nvSpPr>
        <p:spPr>
          <a:xfrm>
            <a:off x="5066873" y="1920240"/>
            <a:ext cx="2057949" cy="3291840"/>
          </a:xfrm>
          <a:prstGeom prst="roundRect">
            <a:avLst>
              <a:gd name="adj" fmla="val 3555"/>
            </a:avLst>
          </a:prstGeom>
          <a:solidFill>
            <a:srgbClr val="F5F7FB"/>
          </a:solidFill>
          <a:ln w="12700">
            <a:solidFill>
              <a:srgbClr val="E1E6EF"/>
            </a:solidFill>
            <a:prstDash val="solid"/>
          </a:ln>
        </p:spPr>
      </p:sp>
      <p:sp>
        <p:nvSpPr>
          <p:cNvPr id="19" name="Shape 15"/>
          <p:cNvSpPr/>
          <p:nvPr/>
        </p:nvSpPr>
        <p:spPr>
          <a:xfrm>
            <a:off x="5268041" y="2121408"/>
            <a:ext cx="502920" cy="502920"/>
          </a:xfrm>
          <a:prstGeom prst="roundRect">
            <a:avLst>
              <a:gd name="adj" fmla="val 23636"/>
            </a:avLst>
          </a:prstGeom>
          <a:solidFill>
            <a:srgbClr val="0B1E3D"/>
          </a:solidFill>
          <a:ln/>
        </p:spPr>
      </p:sp>
      <p:pic>
        <p:nvPicPr>
          <p:cNvPr id="20" name="Image 2" descr="/home/claude/pptx_build/icons/globe_bright.png"/>
          <p:cNvPicPr>
            <a:picLocks noChangeAspect="1"/>
          </p:cNvPicPr>
          <p:nvPr/>
        </p:nvPicPr>
        <p:blipFill>
          <a:blip r:embed="rId5"/>
          <a:stretch>
            <a:fillRect/>
          </a:stretch>
        </p:blipFill>
        <p:spPr>
          <a:xfrm>
            <a:off x="5378684" y="2232050"/>
            <a:ext cx="281635" cy="281635"/>
          </a:xfrm>
          <a:prstGeom prst="rect">
            <a:avLst/>
          </a:prstGeom>
        </p:spPr>
      </p:pic>
      <p:sp>
        <p:nvSpPr>
          <p:cNvPr id="21" name="Text 16"/>
          <p:cNvSpPr/>
          <p:nvPr/>
        </p:nvSpPr>
        <p:spPr>
          <a:xfrm>
            <a:off x="5268041" y="2752344"/>
            <a:ext cx="1655613" cy="219456"/>
          </a:xfrm>
          <a:prstGeom prst="rect">
            <a:avLst/>
          </a:prstGeom>
          <a:noFill/>
          <a:ln/>
        </p:spPr>
        <p:txBody>
          <a:bodyPr wrap="square" rtlCol="0" anchor="ctr"/>
          <a:lstStyle/>
          <a:p>
            <a:pPr marL="0" indent="0" algn="l">
              <a:buNone/>
            </a:pPr>
            <a:r>
              <a:rPr lang="en-US" sz="950" b="1" kern="0" spc="150" dirty="0">
                <a:solidFill>
                  <a:srgbClr val="C6540E"/>
                </a:solidFill>
                <a:latin typeface="Arial" pitchFamily="34" charset="0"/>
                <a:ea typeface="Arial" pitchFamily="34" charset="-122"/>
                <a:cs typeface="Arial" pitchFamily="34" charset="-120"/>
              </a:rPr>
              <a:t>REGIONAL MANAGERS</a:t>
            </a:r>
            <a:endParaRPr lang="en-US" sz="950" dirty="0"/>
          </a:p>
        </p:txBody>
      </p:sp>
      <p:sp>
        <p:nvSpPr>
          <p:cNvPr id="22" name="Text 17"/>
          <p:cNvSpPr/>
          <p:nvPr/>
        </p:nvSpPr>
        <p:spPr>
          <a:xfrm>
            <a:off x="5268041" y="3008376"/>
            <a:ext cx="1655613" cy="530352"/>
          </a:xfrm>
          <a:prstGeom prst="rect">
            <a:avLst/>
          </a:prstGeom>
          <a:noFill/>
          <a:ln/>
        </p:spPr>
        <p:txBody>
          <a:bodyPr wrap="square" rtlCol="0" anchor="t"/>
          <a:lstStyle/>
          <a:p>
            <a:pPr marL="0" indent="0" algn="l">
              <a:lnSpc>
                <a:spcPct val="108000"/>
              </a:lnSpc>
              <a:buNone/>
            </a:pPr>
            <a:r>
              <a:rPr lang="en-US" sz="1450" b="1" dirty="0">
                <a:solidFill>
                  <a:srgbClr val="0B1E3D"/>
                </a:solidFill>
                <a:latin typeface="Arial" pitchFamily="34" charset="0"/>
                <a:ea typeface="Arial" pitchFamily="34" charset="-122"/>
                <a:cs typeface="Arial" pitchFamily="34" charset="-120"/>
              </a:rPr>
              <a:t>Regional Performance</a:t>
            </a:r>
            <a:endParaRPr lang="en-US" sz="1450" dirty="0"/>
          </a:p>
        </p:txBody>
      </p:sp>
      <p:sp>
        <p:nvSpPr>
          <p:cNvPr id="23" name="Text 18"/>
          <p:cNvSpPr/>
          <p:nvPr/>
        </p:nvSpPr>
        <p:spPr>
          <a:xfrm>
            <a:off x="5268041" y="3575304"/>
            <a:ext cx="1655613" cy="1499616"/>
          </a:xfrm>
          <a:prstGeom prst="rect">
            <a:avLst/>
          </a:prstGeom>
          <a:noFill/>
          <a:ln/>
        </p:spPr>
        <p:txBody>
          <a:bodyPr wrap="square" rtlCol="0" anchor="t"/>
          <a:lstStyle/>
          <a:p>
            <a:pPr marL="0" indent="0" algn="l">
              <a:buNone/>
            </a:pPr>
            <a:r>
              <a:rPr lang="en-US" sz="1150" dirty="0">
                <a:solidFill>
                  <a:srgbClr val="51617C"/>
                </a:solidFill>
                <a:latin typeface="Arial" pitchFamily="34" charset="0"/>
                <a:ea typeface="Arial" pitchFamily="34" charset="-122"/>
                <a:cs typeface="Arial" pitchFamily="34" charset="-120"/>
              </a:rPr>
              <a:t>Compare territories &amp; payment mix</a:t>
            </a:r>
            <a:endParaRPr lang="en-US" sz="1150" dirty="0"/>
          </a:p>
        </p:txBody>
      </p:sp>
      <p:sp>
        <p:nvSpPr>
          <p:cNvPr id="24" name="Shape 19"/>
          <p:cNvSpPr/>
          <p:nvPr/>
        </p:nvSpPr>
        <p:spPr>
          <a:xfrm>
            <a:off x="7325990" y="1920240"/>
            <a:ext cx="2057949" cy="3291840"/>
          </a:xfrm>
          <a:prstGeom prst="roundRect">
            <a:avLst>
              <a:gd name="adj" fmla="val 3555"/>
            </a:avLst>
          </a:prstGeom>
          <a:solidFill>
            <a:srgbClr val="F5F7FB"/>
          </a:solidFill>
          <a:ln w="12700">
            <a:solidFill>
              <a:srgbClr val="E1E6EF"/>
            </a:solidFill>
            <a:prstDash val="solid"/>
          </a:ln>
        </p:spPr>
      </p:sp>
      <p:sp>
        <p:nvSpPr>
          <p:cNvPr id="25" name="Shape 20"/>
          <p:cNvSpPr/>
          <p:nvPr/>
        </p:nvSpPr>
        <p:spPr>
          <a:xfrm>
            <a:off x="7527158" y="2121408"/>
            <a:ext cx="502920" cy="502920"/>
          </a:xfrm>
          <a:prstGeom prst="roundRect">
            <a:avLst>
              <a:gd name="adj" fmla="val 23636"/>
            </a:avLst>
          </a:prstGeom>
          <a:solidFill>
            <a:srgbClr val="0B1E3D"/>
          </a:solidFill>
          <a:ln/>
        </p:spPr>
      </p:sp>
      <p:pic>
        <p:nvPicPr>
          <p:cNvPr id="26" name="Image 3" descr="/home/claude/pptx_build/icons/truck_bright.png"/>
          <p:cNvPicPr>
            <a:picLocks noChangeAspect="1"/>
          </p:cNvPicPr>
          <p:nvPr/>
        </p:nvPicPr>
        <p:blipFill>
          <a:blip r:embed="rId6"/>
          <a:stretch>
            <a:fillRect/>
          </a:stretch>
        </p:blipFill>
        <p:spPr>
          <a:xfrm>
            <a:off x="7637800" y="2232050"/>
            <a:ext cx="281635" cy="281635"/>
          </a:xfrm>
          <a:prstGeom prst="rect">
            <a:avLst/>
          </a:prstGeom>
        </p:spPr>
      </p:pic>
      <p:sp>
        <p:nvSpPr>
          <p:cNvPr id="27" name="Text 21"/>
          <p:cNvSpPr/>
          <p:nvPr/>
        </p:nvSpPr>
        <p:spPr>
          <a:xfrm>
            <a:off x="7527158" y="2752344"/>
            <a:ext cx="1655613" cy="219456"/>
          </a:xfrm>
          <a:prstGeom prst="rect">
            <a:avLst/>
          </a:prstGeom>
          <a:noFill/>
          <a:ln/>
        </p:spPr>
        <p:txBody>
          <a:bodyPr wrap="square" rtlCol="0" anchor="ctr"/>
          <a:lstStyle/>
          <a:p>
            <a:pPr marL="0" indent="0" algn="l">
              <a:buNone/>
            </a:pPr>
            <a:r>
              <a:rPr lang="en-US" sz="950" b="1" kern="0" spc="150" dirty="0">
                <a:solidFill>
                  <a:srgbClr val="C6540E"/>
                </a:solidFill>
                <a:latin typeface="Arial" pitchFamily="34" charset="0"/>
                <a:ea typeface="Arial" pitchFamily="34" charset="-122"/>
                <a:cs typeface="Arial" pitchFamily="34" charset="-120"/>
              </a:rPr>
              <a:t>OPERATIONS</a:t>
            </a:r>
            <a:endParaRPr lang="en-US" sz="950" dirty="0"/>
          </a:p>
        </p:txBody>
      </p:sp>
      <p:sp>
        <p:nvSpPr>
          <p:cNvPr id="28" name="Text 22"/>
          <p:cNvSpPr/>
          <p:nvPr/>
        </p:nvSpPr>
        <p:spPr>
          <a:xfrm>
            <a:off x="7527158" y="3008376"/>
            <a:ext cx="1655613" cy="530352"/>
          </a:xfrm>
          <a:prstGeom prst="rect">
            <a:avLst/>
          </a:prstGeom>
          <a:noFill/>
          <a:ln/>
        </p:spPr>
        <p:txBody>
          <a:bodyPr wrap="square" rtlCol="0" anchor="t"/>
          <a:lstStyle/>
          <a:p>
            <a:pPr marL="0" indent="0" algn="l">
              <a:lnSpc>
                <a:spcPct val="108000"/>
              </a:lnSpc>
              <a:buNone/>
            </a:pPr>
            <a:r>
              <a:rPr lang="en-US" sz="1450" b="1" dirty="0">
                <a:solidFill>
                  <a:srgbClr val="0B1E3D"/>
                </a:solidFill>
                <a:latin typeface="Arial" pitchFamily="34" charset="0"/>
                <a:ea typeface="Arial" pitchFamily="34" charset="-122"/>
                <a:cs typeface="Arial" pitchFamily="34" charset="-120"/>
              </a:rPr>
              <a:t>Channels &amp; Fulfillment</a:t>
            </a:r>
            <a:endParaRPr lang="en-US" sz="1450" dirty="0"/>
          </a:p>
        </p:txBody>
      </p:sp>
      <p:sp>
        <p:nvSpPr>
          <p:cNvPr id="29" name="Text 23"/>
          <p:cNvSpPr/>
          <p:nvPr/>
        </p:nvSpPr>
        <p:spPr>
          <a:xfrm>
            <a:off x="7527158" y="3575304"/>
            <a:ext cx="1655613" cy="1499616"/>
          </a:xfrm>
          <a:prstGeom prst="rect">
            <a:avLst/>
          </a:prstGeom>
          <a:noFill/>
          <a:ln/>
        </p:spPr>
        <p:txBody>
          <a:bodyPr wrap="square" rtlCol="0" anchor="t"/>
          <a:lstStyle/>
          <a:p>
            <a:pPr marL="0" indent="0" algn="l">
              <a:buNone/>
            </a:pPr>
            <a:r>
              <a:rPr lang="en-US" sz="1150" dirty="0">
                <a:solidFill>
                  <a:srgbClr val="51617C"/>
                </a:solidFill>
                <a:latin typeface="Arial" pitchFamily="34" charset="0"/>
                <a:ea typeface="Arial" pitchFamily="34" charset="-122"/>
                <a:cs typeface="Arial" pitchFamily="34" charset="-120"/>
              </a:rPr>
              <a:t>Channel performance &amp; shipping efficiency</a:t>
            </a:r>
            <a:endParaRPr lang="en-US" sz="1150" dirty="0"/>
          </a:p>
        </p:txBody>
      </p:sp>
      <p:sp>
        <p:nvSpPr>
          <p:cNvPr id="30" name="Shape 24"/>
          <p:cNvSpPr/>
          <p:nvPr/>
        </p:nvSpPr>
        <p:spPr>
          <a:xfrm>
            <a:off x="9585107" y="1920240"/>
            <a:ext cx="2057949" cy="3291840"/>
          </a:xfrm>
          <a:prstGeom prst="roundRect">
            <a:avLst>
              <a:gd name="adj" fmla="val 3555"/>
            </a:avLst>
          </a:prstGeom>
          <a:solidFill>
            <a:srgbClr val="F5F7FB"/>
          </a:solidFill>
          <a:ln w="12700">
            <a:solidFill>
              <a:srgbClr val="E1E6EF"/>
            </a:solidFill>
            <a:prstDash val="solid"/>
          </a:ln>
        </p:spPr>
      </p:sp>
      <p:sp>
        <p:nvSpPr>
          <p:cNvPr id="31" name="Shape 25"/>
          <p:cNvSpPr/>
          <p:nvPr/>
        </p:nvSpPr>
        <p:spPr>
          <a:xfrm>
            <a:off x="9786275" y="2121408"/>
            <a:ext cx="502920" cy="502920"/>
          </a:xfrm>
          <a:prstGeom prst="roundRect">
            <a:avLst>
              <a:gd name="adj" fmla="val 23636"/>
            </a:avLst>
          </a:prstGeom>
          <a:solidFill>
            <a:srgbClr val="0B1E3D"/>
          </a:solidFill>
          <a:ln/>
        </p:spPr>
      </p:sp>
      <p:pic>
        <p:nvPicPr>
          <p:cNvPr id="32" name="Image 4" descr="/home/claude/pptx_build/icons/users_bright.png"/>
          <p:cNvPicPr>
            <a:picLocks noChangeAspect="1"/>
          </p:cNvPicPr>
          <p:nvPr/>
        </p:nvPicPr>
        <p:blipFill>
          <a:blip r:embed="rId7"/>
          <a:stretch>
            <a:fillRect/>
          </a:stretch>
        </p:blipFill>
        <p:spPr>
          <a:xfrm>
            <a:off x="9896917" y="2232050"/>
            <a:ext cx="281635" cy="281635"/>
          </a:xfrm>
          <a:prstGeom prst="rect">
            <a:avLst/>
          </a:prstGeom>
        </p:spPr>
      </p:pic>
      <p:sp>
        <p:nvSpPr>
          <p:cNvPr id="33" name="Text 26"/>
          <p:cNvSpPr/>
          <p:nvPr/>
        </p:nvSpPr>
        <p:spPr>
          <a:xfrm>
            <a:off x="9786275" y="2752344"/>
            <a:ext cx="1655613" cy="219456"/>
          </a:xfrm>
          <a:prstGeom prst="rect">
            <a:avLst/>
          </a:prstGeom>
          <a:noFill/>
          <a:ln/>
        </p:spPr>
        <p:txBody>
          <a:bodyPr wrap="square" rtlCol="0" anchor="ctr"/>
          <a:lstStyle/>
          <a:p>
            <a:pPr marL="0" indent="0" algn="l">
              <a:buNone/>
            </a:pPr>
            <a:r>
              <a:rPr lang="en-US" sz="950" b="1" kern="0" spc="150" dirty="0">
                <a:solidFill>
                  <a:srgbClr val="C6540E"/>
                </a:solidFill>
                <a:latin typeface="Arial" pitchFamily="34" charset="0"/>
                <a:ea typeface="Arial" pitchFamily="34" charset="-122"/>
                <a:cs typeface="Arial" pitchFamily="34" charset="-120"/>
              </a:rPr>
              <a:t>MARKETING / CRM</a:t>
            </a:r>
            <a:endParaRPr lang="en-US" sz="950" dirty="0"/>
          </a:p>
        </p:txBody>
      </p:sp>
      <p:sp>
        <p:nvSpPr>
          <p:cNvPr id="34" name="Text 27"/>
          <p:cNvSpPr/>
          <p:nvPr/>
        </p:nvSpPr>
        <p:spPr>
          <a:xfrm>
            <a:off x="9786275" y="3008376"/>
            <a:ext cx="1655613" cy="530352"/>
          </a:xfrm>
          <a:prstGeom prst="rect">
            <a:avLst/>
          </a:prstGeom>
          <a:noFill/>
          <a:ln/>
        </p:spPr>
        <p:txBody>
          <a:bodyPr wrap="square" rtlCol="0" anchor="t"/>
          <a:lstStyle/>
          <a:p>
            <a:pPr marL="0" indent="0" algn="l">
              <a:lnSpc>
                <a:spcPct val="108000"/>
              </a:lnSpc>
              <a:buNone/>
            </a:pPr>
            <a:r>
              <a:rPr lang="en-US" sz="1450" b="1" dirty="0">
                <a:solidFill>
                  <a:srgbClr val="0B1E3D"/>
                </a:solidFill>
                <a:latin typeface="Arial" pitchFamily="34" charset="0"/>
                <a:ea typeface="Arial" pitchFamily="34" charset="-122"/>
                <a:cs typeface="Arial" pitchFamily="34" charset="-120"/>
              </a:rPr>
              <a:t>Customer Insights</a:t>
            </a:r>
            <a:endParaRPr lang="en-US" sz="1450" dirty="0"/>
          </a:p>
        </p:txBody>
      </p:sp>
      <p:sp>
        <p:nvSpPr>
          <p:cNvPr id="35" name="Text 28"/>
          <p:cNvSpPr/>
          <p:nvPr/>
        </p:nvSpPr>
        <p:spPr>
          <a:xfrm>
            <a:off x="9786275" y="3575304"/>
            <a:ext cx="1655613" cy="1499616"/>
          </a:xfrm>
          <a:prstGeom prst="rect">
            <a:avLst/>
          </a:prstGeom>
          <a:noFill/>
          <a:ln/>
        </p:spPr>
        <p:txBody>
          <a:bodyPr wrap="square" rtlCol="0" anchor="t"/>
          <a:lstStyle/>
          <a:p>
            <a:pPr marL="0" indent="0" algn="l">
              <a:buNone/>
            </a:pPr>
            <a:r>
              <a:rPr lang="en-US" sz="1150" dirty="0">
                <a:solidFill>
                  <a:srgbClr val="51617C"/>
                </a:solidFill>
                <a:latin typeface="Arial" pitchFamily="34" charset="0"/>
                <a:ea typeface="Arial" pitchFamily="34" charset="-122"/>
                <a:cs typeface="Arial" pitchFamily="34" charset="-120"/>
              </a:rPr>
              <a:t>Top customers &amp; category preferences</a:t>
            </a:r>
            <a:endParaRPr lang="en-US" sz="1150" dirty="0"/>
          </a:p>
        </p:txBody>
      </p:sp>
      <p:sp>
        <p:nvSpPr>
          <p:cNvPr id="36" name="Shape 29"/>
          <p:cNvSpPr/>
          <p:nvPr/>
        </p:nvSpPr>
        <p:spPr>
          <a:xfrm>
            <a:off x="548640" y="6473952"/>
            <a:ext cx="146304" cy="146304"/>
          </a:xfrm>
          <a:prstGeom prst="roundRect">
            <a:avLst>
              <a:gd name="adj" fmla="val 21875"/>
            </a:avLst>
          </a:prstGeom>
          <a:solidFill>
            <a:srgbClr val="0B1E3D"/>
          </a:solidFill>
          <a:ln/>
        </p:spPr>
      </p:sp>
      <p:sp>
        <p:nvSpPr>
          <p:cNvPr id="37" name="Shape 30"/>
          <p:cNvSpPr/>
          <p:nvPr/>
        </p:nvSpPr>
        <p:spPr>
          <a:xfrm>
            <a:off x="630936" y="6556248"/>
            <a:ext cx="68580" cy="68580"/>
          </a:xfrm>
          <a:prstGeom prst="ellipse">
            <a:avLst/>
          </a:prstGeom>
          <a:solidFill>
            <a:srgbClr val="C6540E"/>
          </a:solidFill>
          <a:ln/>
        </p:spPr>
      </p:sp>
      <p:sp>
        <p:nvSpPr>
          <p:cNvPr id="38" name="Text 31"/>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39" name="Text 32"/>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10 / 15</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11</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KEY PERFORMANCE INDICATORS</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Eight Numbers Every Stakeholder Checks First</a:t>
            </a:r>
            <a:endParaRPr lang="en-US" sz="3200" dirty="0"/>
          </a:p>
        </p:txBody>
      </p:sp>
      <p:sp>
        <p:nvSpPr>
          <p:cNvPr id="6" name="Shape 4"/>
          <p:cNvSpPr/>
          <p:nvPr/>
        </p:nvSpPr>
        <p:spPr>
          <a:xfrm>
            <a:off x="548640" y="2011680"/>
            <a:ext cx="2602154" cy="1417320"/>
          </a:xfrm>
          <a:prstGeom prst="roundRect">
            <a:avLst>
              <a:gd name="adj" fmla="val 5161"/>
            </a:avLst>
          </a:prstGeom>
          <a:solidFill>
            <a:srgbClr val="F5F7FB"/>
          </a:solidFill>
          <a:ln w="12700">
            <a:solidFill>
              <a:srgbClr val="E1E6EF"/>
            </a:solidFill>
            <a:prstDash val="solid"/>
          </a:ln>
        </p:spPr>
      </p:sp>
      <p:sp>
        <p:nvSpPr>
          <p:cNvPr id="7" name="Text 5"/>
          <p:cNvSpPr/>
          <p:nvPr/>
        </p:nvSpPr>
        <p:spPr>
          <a:xfrm>
            <a:off x="731520" y="2148840"/>
            <a:ext cx="2236394" cy="256032"/>
          </a:xfrm>
          <a:prstGeom prst="rect">
            <a:avLst/>
          </a:prstGeom>
          <a:noFill/>
          <a:ln/>
        </p:spPr>
        <p:txBody>
          <a:bodyPr wrap="square" rtlCol="0" anchor="ctr"/>
          <a:lstStyle/>
          <a:p>
            <a:pPr marL="0" indent="0">
              <a:buNone/>
            </a:pPr>
            <a:r>
              <a:rPr lang="en-US" sz="950" b="1" kern="0" spc="100" dirty="0">
                <a:solidFill>
                  <a:srgbClr val="8695AC"/>
                </a:solidFill>
                <a:latin typeface="Arial" pitchFamily="34" charset="0"/>
                <a:ea typeface="Arial" pitchFamily="34" charset="-122"/>
                <a:cs typeface="Arial" pitchFamily="34" charset="-120"/>
              </a:rPr>
              <a:t>TOTAL SALES</a:t>
            </a:r>
            <a:endParaRPr lang="en-US" sz="950" dirty="0"/>
          </a:p>
        </p:txBody>
      </p:sp>
      <p:sp>
        <p:nvSpPr>
          <p:cNvPr id="8" name="Text 6"/>
          <p:cNvSpPr/>
          <p:nvPr/>
        </p:nvSpPr>
        <p:spPr>
          <a:xfrm>
            <a:off x="731520" y="2395728"/>
            <a:ext cx="2236394" cy="548640"/>
          </a:xfrm>
          <a:prstGeom prst="rect">
            <a:avLst/>
          </a:prstGeom>
          <a:noFill/>
          <a:ln/>
        </p:spPr>
        <p:txBody>
          <a:bodyPr wrap="square" rtlCol="0" anchor="t"/>
          <a:lstStyle/>
          <a:p>
            <a:pPr marL="0" indent="0">
              <a:buNone/>
            </a:pPr>
            <a:r>
              <a:rPr lang="en-US" sz="2500" b="1" dirty="0">
                <a:solidFill>
                  <a:srgbClr val="C6540E"/>
                </a:solidFill>
                <a:latin typeface="Arial" pitchFamily="34" charset="0"/>
                <a:ea typeface="Arial" pitchFamily="34" charset="-122"/>
                <a:cs typeface="Arial" pitchFamily="34" charset="-120"/>
              </a:rPr>
              <a:t>[$110M]</a:t>
            </a:r>
            <a:endParaRPr lang="en-US" sz="2500" dirty="0"/>
          </a:p>
        </p:txBody>
      </p:sp>
      <p:sp>
        <p:nvSpPr>
          <p:cNvPr id="9" name="Text 7"/>
          <p:cNvSpPr/>
          <p:nvPr/>
        </p:nvSpPr>
        <p:spPr>
          <a:xfrm>
            <a:off x="731520" y="2971800"/>
            <a:ext cx="2236394" cy="384048"/>
          </a:xfrm>
          <a:prstGeom prst="rect">
            <a:avLst/>
          </a:prstGeom>
          <a:noFill/>
          <a:ln/>
        </p:spPr>
        <p:txBody>
          <a:bodyPr wrap="square" rtlCol="0" anchor="t"/>
          <a:lstStyle/>
          <a:p>
            <a:pPr marL="0" indent="0">
              <a:buNone/>
            </a:pPr>
            <a:r>
              <a:rPr lang="en-US" sz="1000" dirty="0">
                <a:solidFill>
                  <a:srgbClr val="51617C"/>
                </a:solidFill>
                <a:latin typeface="Arial" pitchFamily="34" charset="0"/>
                <a:ea typeface="Arial" pitchFamily="34" charset="-122"/>
                <a:cs typeface="Arial" pitchFamily="34" charset="-120"/>
              </a:rPr>
              <a:t>Overall revenue health</a:t>
            </a:r>
            <a:endParaRPr lang="en-US" sz="1000" dirty="0"/>
          </a:p>
        </p:txBody>
      </p:sp>
      <p:sp>
        <p:nvSpPr>
          <p:cNvPr id="10" name="Shape 8"/>
          <p:cNvSpPr/>
          <p:nvPr/>
        </p:nvSpPr>
        <p:spPr>
          <a:xfrm>
            <a:off x="3379394" y="2011680"/>
            <a:ext cx="2602154" cy="1417320"/>
          </a:xfrm>
          <a:prstGeom prst="roundRect">
            <a:avLst>
              <a:gd name="adj" fmla="val 5161"/>
            </a:avLst>
          </a:prstGeom>
          <a:solidFill>
            <a:srgbClr val="F5F7FB"/>
          </a:solidFill>
          <a:ln w="12700">
            <a:solidFill>
              <a:srgbClr val="E1E6EF"/>
            </a:solidFill>
            <a:prstDash val="solid"/>
          </a:ln>
        </p:spPr>
      </p:sp>
      <p:sp>
        <p:nvSpPr>
          <p:cNvPr id="11" name="Text 9"/>
          <p:cNvSpPr/>
          <p:nvPr/>
        </p:nvSpPr>
        <p:spPr>
          <a:xfrm>
            <a:off x="3562274" y="2148840"/>
            <a:ext cx="2236394" cy="256032"/>
          </a:xfrm>
          <a:prstGeom prst="rect">
            <a:avLst/>
          </a:prstGeom>
          <a:noFill/>
          <a:ln/>
        </p:spPr>
        <p:txBody>
          <a:bodyPr wrap="square" rtlCol="0" anchor="ctr"/>
          <a:lstStyle/>
          <a:p>
            <a:pPr marL="0" indent="0">
              <a:buNone/>
            </a:pPr>
            <a:r>
              <a:rPr lang="en-US" sz="950" b="1" kern="0" spc="100" dirty="0">
                <a:solidFill>
                  <a:srgbClr val="8695AC"/>
                </a:solidFill>
                <a:latin typeface="Arial" pitchFamily="34" charset="0"/>
                <a:ea typeface="Arial" pitchFamily="34" charset="-122"/>
                <a:cs typeface="Arial" pitchFamily="34" charset="-120"/>
              </a:rPr>
              <a:t>TOTAL ORDERS</a:t>
            </a:r>
            <a:endParaRPr lang="en-US" sz="950" dirty="0"/>
          </a:p>
        </p:txBody>
      </p:sp>
      <p:sp>
        <p:nvSpPr>
          <p:cNvPr id="12" name="Text 10"/>
          <p:cNvSpPr/>
          <p:nvPr/>
        </p:nvSpPr>
        <p:spPr>
          <a:xfrm>
            <a:off x="3562274" y="2395728"/>
            <a:ext cx="2236394" cy="548640"/>
          </a:xfrm>
          <a:prstGeom prst="rect">
            <a:avLst/>
          </a:prstGeom>
          <a:noFill/>
          <a:ln/>
        </p:spPr>
        <p:txBody>
          <a:bodyPr wrap="square" rtlCol="0" anchor="t"/>
          <a:lstStyle/>
          <a:p>
            <a:pPr marL="0" indent="0">
              <a:buNone/>
            </a:pPr>
            <a:r>
              <a:rPr lang="en-US" sz="2500" b="1" dirty="0">
                <a:solidFill>
                  <a:srgbClr val="C6540E"/>
                </a:solidFill>
                <a:latin typeface="Arial" pitchFamily="34" charset="0"/>
                <a:ea typeface="Arial" pitchFamily="34" charset="-122"/>
                <a:cs typeface="Arial" pitchFamily="34" charset="-120"/>
              </a:rPr>
              <a:t>[31K]</a:t>
            </a:r>
            <a:endParaRPr lang="en-US" sz="2500" dirty="0"/>
          </a:p>
        </p:txBody>
      </p:sp>
      <p:sp>
        <p:nvSpPr>
          <p:cNvPr id="13" name="Text 11"/>
          <p:cNvSpPr/>
          <p:nvPr/>
        </p:nvSpPr>
        <p:spPr>
          <a:xfrm>
            <a:off x="3562274" y="2971800"/>
            <a:ext cx="2236394" cy="384048"/>
          </a:xfrm>
          <a:prstGeom prst="rect">
            <a:avLst/>
          </a:prstGeom>
          <a:noFill/>
          <a:ln/>
        </p:spPr>
        <p:txBody>
          <a:bodyPr wrap="square" rtlCol="0" anchor="t"/>
          <a:lstStyle/>
          <a:p>
            <a:pPr marL="0" indent="0">
              <a:buNone/>
            </a:pPr>
            <a:r>
              <a:rPr lang="en-US" sz="1000" dirty="0">
                <a:solidFill>
                  <a:srgbClr val="51617C"/>
                </a:solidFill>
                <a:latin typeface="Arial" pitchFamily="34" charset="0"/>
                <a:ea typeface="Arial" pitchFamily="34" charset="-122"/>
                <a:cs typeface="Arial" pitchFamily="34" charset="-120"/>
              </a:rPr>
              <a:t>Volume of business activity</a:t>
            </a:r>
            <a:endParaRPr lang="en-US" sz="1000" dirty="0"/>
          </a:p>
        </p:txBody>
      </p:sp>
      <p:sp>
        <p:nvSpPr>
          <p:cNvPr id="14" name="Shape 12"/>
          <p:cNvSpPr/>
          <p:nvPr/>
        </p:nvSpPr>
        <p:spPr>
          <a:xfrm>
            <a:off x="6210148" y="2011680"/>
            <a:ext cx="2602154" cy="1417320"/>
          </a:xfrm>
          <a:prstGeom prst="roundRect">
            <a:avLst>
              <a:gd name="adj" fmla="val 5161"/>
            </a:avLst>
          </a:prstGeom>
          <a:solidFill>
            <a:srgbClr val="F5F7FB"/>
          </a:solidFill>
          <a:ln w="12700">
            <a:solidFill>
              <a:srgbClr val="E1E6EF"/>
            </a:solidFill>
            <a:prstDash val="solid"/>
          </a:ln>
        </p:spPr>
      </p:sp>
      <p:sp>
        <p:nvSpPr>
          <p:cNvPr id="15" name="Text 13"/>
          <p:cNvSpPr/>
          <p:nvPr/>
        </p:nvSpPr>
        <p:spPr>
          <a:xfrm>
            <a:off x="6393028" y="2148840"/>
            <a:ext cx="2236394" cy="256032"/>
          </a:xfrm>
          <a:prstGeom prst="rect">
            <a:avLst/>
          </a:prstGeom>
          <a:noFill/>
          <a:ln/>
        </p:spPr>
        <p:txBody>
          <a:bodyPr wrap="square" rtlCol="0" anchor="ctr"/>
          <a:lstStyle/>
          <a:p>
            <a:pPr marL="0" indent="0">
              <a:buNone/>
            </a:pPr>
            <a:r>
              <a:rPr lang="en-US" sz="950" b="1" kern="0" spc="100" dirty="0">
                <a:solidFill>
                  <a:srgbClr val="8695AC"/>
                </a:solidFill>
                <a:latin typeface="Arial" pitchFamily="34" charset="0"/>
                <a:ea typeface="Arial" pitchFamily="34" charset="-122"/>
                <a:cs typeface="Arial" pitchFamily="34" charset="-120"/>
              </a:rPr>
              <a:t>TOTAL CUSTOMERS</a:t>
            </a:r>
            <a:endParaRPr lang="en-US" sz="950" dirty="0"/>
          </a:p>
        </p:txBody>
      </p:sp>
      <p:sp>
        <p:nvSpPr>
          <p:cNvPr id="16" name="Text 14"/>
          <p:cNvSpPr/>
          <p:nvPr/>
        </p:nvSpPr>
        <p:spPr>
          <a:xfrm>
            <a:off x="6393028" y="2395728"/>
            <a:ext cx="2236394" cy="548640"/>
          </a:xfrm>
          <a:prstGeom prst="rect">
            <a:avLst/>
          </a:prstGeom>
          <a:noFill/>
          <a:ln/>
        </p:spPr>
        <p:txBody>
          <a:bodyPr wrap="square" rtlCol="0" anchor="t"/>
          <a:lstStyle/>
          <a:p>
            <a:pPr marL="0" indent="0">
              <a:buNone/>
            </a:pPr>
            <a:r>
              <a:rPr lang="en-US" sz="2500" b="1" dirty="0">
                <a:solidFill>
                  <a:srgbClr val="C6540E"/>
                </a:solidFill>
                <a:latin typeface="Arial" pitchFamily="34" charset="0"/>
                <a:ea typeface="Arial" pitchFamily="34" charset="-122"/>
                <a:cs typeface="Arial" pitchFamily="34" charset="-120"/>
              </a:rPr>
              <a:t>[20K]</a:t>
            </a:r>
            <a:endParaRPr lang="en-US" sz="2500" dirty="0"/>
          </a:p>
        </p:txBody>
      </p:sp>
      <p:sp>
        <p:nvSpPr>
          <p:cNvPr id="17" name="Text 15"/>
          <p:cNvSpPr/>
          <p:nvPr/>
        </p:nvSpPr>
        <p:spPr>
          <a:xfrm>
            <a:off x="6393028" y="2971800"/>
            <a:ext cx="2236394" cy="384048"/>
          </a:xfrm>
          <a:prstGeom prst="rect">
            <a:avLst/>
          </a:prstGeom>
          <a:noFill/>
          <a:ln/>
        </p:spPr>
        <p:txBody>
          <a:bodyPr wrap="square" rtlCol="0" anchor="t"/>
          <a:lstStyle/>
          <a:p>
            <a:pPr marL="0" indent="0">
              <a:buNone/>
            </a:pPr>
            <a:r>
              <a:rPr lang="en-US" sz="1000" dirty="0">
                <a:solidFill>
                  <a:srgbClr val="51617C"/>
                </a:solidFill>
                <a:latin typeface="Arial" pitchFamily="34" charset="0"/>
                <a:ea typeface="Arial" pitchFamily="34" charset="-122"/>
                <a:cs typeface="Arial" pitchFamily="34" charset="-120"/>
              </a:rPr>
              <a:t>Size of active customer base</a:t>
            </a:r>
            <a:endParaRPr lang="en-US" sz="1000" dirty="0"/>
          </a:p>
        </p:txBody>
      </p:sp>
      <p:sp>
        <p:nvSpPr>
          <p:cNvPr id="18" name="Shape 16"/>
          <p:cNvSpPr/>
          <p:nvPr/>
        </p:nvSpPr>
        <p:spPr>
          <a:xfrm>
            <a:off x="9040901" y="2011680"/>
            <a:ext cx="2602154" cy="1417320"/>
          </a:xfrm>
          <a:prstGeom prst="roundRect">
            <a:avLst>
              <a:gd name="adj" fmla="val 5161"/>
            </a:avLst>
          </a:prstGeom>
          <a:solidFill>
            <a:srgbClr val="F5F7FB"/>
          </a:solidFill>
          <a:ln w="12700">
            <a:solidFill>
              <a:srgbClr val="E1E6EF"/>
            </a:solidFill>
            <a:prstDash val="solid"/>
          </a:ln>
        </p:spPr>
      </p:sp>
      <p:sp>
        <p:nvSpPr>
          <p:cNvPr id="19" name="Text 17"/>
          <p:cNvSpPr/>
          <p:nvPr/>
        </p:nvSpPr>
        <p:spPr>
          <a:xfrm>
            <a:off x="9223781" y="2148840"/>
            <a:ext cx="2236394" cy="256032"/>
          </a:xfrm>
          <a:prstGeom prst="rect">
            <a:avLst/>
          </a:prstGeom>
          <a:noFill/>
          <a:ln/>
        </p:spPr>
        <p:txBody>
          <a:bodyPr wrap="square" rtlCol="0" anchor="ctr"/>
          <a:lstStyle/>
          <a:p>
            <a:pPr marL="0" indent="0">
              <a:buNone/>
            </a:pPr>
            <a:r>
              <a:rPr lang="en-US" sz="950" b="1" kern="0" spc="100" dirty="0">
                <a:solidFill>
                  <a:srgbClr val="8695AC"/>
                </a:solidFill>
                <a:latin typeface="Arial" pitchFamily="34" charset="0"/>
                <a:ea typeface="Arial" pitchFamily="34" charset="-122"/>
                <a:cs typeface="Arial" pitchFamily="34" charset="-120"/>
              </a:rPr>
              <a:t>AVG. ORDER VALUE</a:t>
            </a:r>
            <a:endParaRPr lang="en-US" sz="950" dirty="0"/>
          </a:p>
        </p:txBody>
      </p:sp>
      <p:sp>
        <p:nvSpPr>
          <p:cNvPr id="20" name="Text 18"/>
          <p:cNvSpPr/>
          <p:nvPr/>
        </p:nvSpPr>
        <p:spPr>
          <a:xfrm>
            <a:off x="9223781" y="2395728"/>
            <a:ext cx="2236394" cy="548640"/>
          </a:xfrm>
          <a:prstGeom prst="rect">
            <a:avLst/>
          </a:prstGeom>
          <a:noFill/>
          <a:ln/>
        </p:spPr>
        <p:txBody>
          <a:bodyPr wrap="square" rtlCol="0" anchor="t"/>
          <a:lstStyle/>
          <a:p>
            <a:pPr marL="0" indent="0">
              <a:buNone/>
            </a:pPr>
            <a:r>
              <a:rPr lang="en-US" sz="2500" b="1" dirty="0">
                <a:solidFill>
                  <a:srgbClr val="C6540E"/>
                </a:solidFill>
                <a:latin typeface="Arial" pitchFamily="34" charset="0"/>
                <a:ea typeface="Arial" pitchFamily="34" charset="-122"/>
                <a:cs typeface="Arial" pitchFamily="34" charset="-120"/>
              </a:rPr>
              <a:t>[$3K]</a:t>
            </a:r>
            <a:endParaRPr lang="en-US" sz="2500" dirty="0"/>
          </a:p>
        </p:txBody>
      </p:sp>
      <p:sp>
        <p:nvSpPr>
          <p:cNvPr id="21" name="Text 19"/>
          <p:cNvSpPr/>
          <p:nvPr/>
        </p:nvSpPr>
        <p:spPr>
          <a:xfrm>
            <a:off x="9223781" y="2971800"/>
            <a:ext cx="2236394" cy="384048"/>
          </a:xfrm>
          <a:prstGeom prst="rect">
            <a:avLst/>
          </a:prstGeom>
          <a:noFill/>
          <a:ln/>
        </p:spPr>
        <p:txBody>
          <a:bodyPr wrap="square" rtlCol="0" anchor="t"/>
          <a:lstStyle/>
          <a:p>
            <a:pPr marL="0" indent="0">
              <a:buNone/>
            </a:pPr>
            <a:r>
              <a:rPr lang="en-US" sz="1000" dirty="0">
                <a:solidFill>
                  <a:srgbClr val="51617C"/>
                </a:solidFill>
                <a:latin typeface="Arial" pitchFamily="34" charset="0"/>
                <a:ea typeface="Arial" pitchFamily="34" charset="-122"/>
                <a:cs typeface="Arial" pitchFamily="34" charset="-120"/>
              </a:rPr>
              <a:t>Spend per transaction</a:t>
            </a:r>
            <a:endParaRPr lang="en-US" sz="1000" dirty="0"/>
          </a:p>
        </p:txBody>
      </p:sp>
      <p:sp>
        <p:nvSpPr>
          <p:cNvPr id="22" name="Shape 20"/>
          <p:cNvSpPr/>
          <p:nvPr/>
        </p:nvSpPr>
        <p:spPr>
          <a:xfrm>
            <a:off x="3379394" y="3632852"/>
            <a:ext cx="2602154" cy="1417320"/>
          </a:xfrm>
          <a:prstGeom prst="roundRect">
            <a:avLst>
              <a:gd name="adj" fmla="val 5161"/>
            </a:avLst>
          </a:prstGeom>
          <a:solidFill>
            <a:srgbClr val="F5F7FB"/>
          </a:solidFill>
          <a:ln w="12700">
            <a:solidFill>
              <a:srgbClr val="E1E6EF"/>
            </a:solidFill>
            <a:prstDash val="solid"/>
          </a:ln>
        </p:spPr>
      </p:sp>
      <p:sp>
        <p:nvSpPr>
          <p:cNvPr id="23" name="Text 21"/>
          <p:cNvSpPr/>
          <p:nvPr/>
        </p:nvSpPr>
        <p:spPr>
          <a:xfrm>
            <a:off x="3562274" y="3770012"/>
            <a:ext cx="2236394" cy="256032"/>
          </a:xfrm>
          <a:prstGeom prst="rect">
            <a:avLst/>
          </a:prstGeom>
          <a:noFill/>
          <a:ln/>
        </p:spPr>
        <p:txBody>
          <a:bodyPr wrap="square" rtlCol="0" anchor="ctr"/>
          <a:lstStyle/>
          <a:p>
            <a:pPr marL="0" indent="0">
              <a:buNone/>
            </a:pPr>
            <a:r>
              <a:rPr lang="en-US" sz="950" b="1" kern="0" spc="100" dirty="0">
                <a:solidFill>
                  <a:srgbClr val="8695AC"/>
                </a:solidFill>
                <a:latin typeface="Arial" pitchFamily="34" charset="0"/>
                <a:ea typeface="Arial" pitchFamily="34" charset="-122"/>
                <a:cs typeface="Arial" pitchFamily="34" charset="-120"/>
              </a:rPr>
              <a:t>REVENUE / CUSTOMER</a:t>
            </a:r>
            <a:endParaRPr lang="en-US" sz="950" dirty="0"/>
          </a:p>
        </p:txBody>
      </p:sp>
      <p:sp>
        <p:nvSpPr>
          <p:cNvPr id="24" name="Text 22"/>
          <p:cNvSpPr/>
          <p:nvPr/>
        </p:nvSpPr>
        <p:spPr>
          <a:xfrm>
            <a:off x="3562274" y="4016900"/>
            <a:ext cx="2236394" cy="548640"/>
          </a:xfrm>
          <a:prstGeom prst="rect">
            <a:avLst/>
          </a:prstGeom>
          <a:noFill/>
          <a:ln/>
        </p:spPr>
        <p:txBody>
          <a:bodyPr wrap="square" rtlCol="0" anchor="t"/>
          <a:lstStyle/>
          <a:p>
            <a:pPr marL="0" indent="0">
              <a:buNone/>
            </a:pPr>
            <a:r>
              <a:rPr lang="en-US" sz="2500" b="1" dirty="0">
                <a:solidFill>
                  <a:srgbClr val="C6540E"/>
                </a:solidFill>
                <a:latin typeface="Arial" pitchFamily="34" charset="0"/>
                <a:ea typeface="Arial" pitchFamily="34" charset="-122"/>
                <a:cs typeface="Arial" pitchFamily="34" charset="-120"/>
              </a:rPr>
              <a:t>[$6K]</a:t>
            </a:r>
            <a:endParaRPr lang="en-US" sz="2500" dirty="0"/>
          </a:p>
        </p:txBody>
      </p:sp>
      <p:sp>
        <p:nvSpPr>
          <p:cNvPr id="25" name="Text 23"/>
          <p:cNvSpPr/>
          <p:nvPr/>
        </p:nvSpPr>
        <p:spPr>
          <a:xfrm>
            <a:off x="3562274" y="4592972"/>
            <a:ext cx="2236394" cy="384048"/>
          </a:xfrm>
          <a:prstGeom prst="rect">
            <a:avLst/>
          </a:prstGeom>
          <a:noFill/>
          <a:ln/>
        </p:spPr>
        <p:txBody>
          <a:bodyPr wrap="square" rtlCol="0" anchor="t"/>
          <a:lstStyle/>
          <a:p>
            <a:pPr marL="0" indent="0">
              <a:buNone/>
            </a:pPr>
            <a:r>
              <a:rPr lang="en-US" sz="1000" dirty="0">
                <a:solidFill>
                  <a:srgbClr val="51617C"/>
                </a:solidFill>
                <a:latin typeface="Arial" pitchFamily="34" charset="0"/>
                <a:ea typeface="Arial" pitchFamily="34" charset="-122"/>
                <a:cs typeface="Arial" pitchFamily="34" charset="-120"/>
              </a:rPr>
              <a:t>Customer value signal</a:t>
            </a:r>
            <a:endParaRPr lang="en-US" sz="1000" dirty="0"/>
          </a:p>
        </p:txBody>
      </p:sp>
      <p:sp>
        <p:nvSpPr>
          <p:cNvPr id="26" name="Shape 24"/>
          <p:cNvSpPr/>
          <p:nvPr/>
        </p:nvSpPr>
        <p:spPr>
          <a:xfrm>
            <a:off x="6210148" y="3675888"/>
            <a:ext cx="2602154" cy="1417320"/>
          </a:xfrm>
          <a:prstGeom prst="roundRect">
            <a:avLst>
              <a:gd name="adj" fmla="val 5161"/>
            </a:avLst>
          </a:prstGeom>
          <a:solidFill>
            <a:srgbClr val="F5F7FB"/>
          </a:solidFill>
          <a:ln w="12700">
            <a:solidFill>
              <a:srgbClr val="E1E6EF"/>
            </a:solidFill>
            <a:prstDash val="solid"/>
          </a:ln>
        </p:spPr>
      </p:sp>
      <p:sp>
        <p:nvSpPr>
          <p:cNvPr id="27" name="Text 25"/>
          <p:cNvSpPr/>
          <p:nvPr/>
        </p:nvSpPr>
        <p:spPr>
          <a:xfrm>
            <a:off x="6393028" y="3813048"/>
            <a:ext cx="2236394" cy="256032"/>
          </a:xfrm>
          <a:prstGeom prst="rect">
            <a:avLst/>
          </a:prstGeom>
          <a:noFill/>
          <a:ln/>
        </p:spPr>
        <p:txBody>
          <a:bodyPr wrap="square" rtlCol="0" anchor="ctr"/>
          <a:lstStyle/>
          <a:p>
            <a:pPr marL="0" indent="0">
              <a:buNone/>
            </a:pPr>
            <a:r>
              <a:rPr lang="en-US" sz="950" b="1" kern="0" spc="100" dirty="0">
                <a:solidFill>
                  <a:srgbClr val="8695AC"/>
                </a:solidFill>
                <a:latin typeface="Arial" pitchFamily="34" charset="0"/>
                <a:ea typeface="Arial" pitchFamily="34" charset="-122"/>
                <a:cs typeface="Arial" pitchFamily="34" charset="-120"/>
              </a:rPr>
              <a:t>QUANTITY SOLD</a:t>
            </a:r>
            <a:endParaRPr lang="en-US" sz="950" dirty="0"/>
          </a:p>
        </p:txBody>
      </p:sp>
      <p:sp>
        <p:nvSpPr>
          <p:cNvPr id="28" name="Text 26"/>
          <p:cNvSpPr/>
          <p:nvPr/>
        </p:nvSpPr>
        <p:spPr>
          <a:xfrm>
            <a:off x="6393028" y="4059936"/>
            <a:ext cx="2236394" cy="548640"/>
          </a:xfrm>
          <a:prstGeom prst="rect">
            <a:avLst/>
          </a:prstGeom>
          <a:noFill/>
          <a:ln/>
        </p:spPr>
        <p:txBody>
          <a:bodyPr wrap="square" rtlCol="0" anchor="t"/>
          <a:lstStyle/>
          <a:p>
            <a:pPr marL="0" indent="0">
              <a:buNone/>
            </a:pPr>
            <a:r>
              <a:rPr lang="en-US" sz="2500" b="1" dirty="0">
                <a:solidFill>
                  <a:srgbClr val="C6540E"/>
                </a:solidFill>
                <a:latin typeface="Arial" pitchFamily="34" charset="0"/>
                <a:ea typeface="Arial" pitchFamily="34" charset="-122"/>
                <a:cs typeface="Arial" pitchFamily="34" charset="-120"/>
              </a:rPr>
              <a:t>[275K]</a:t>
            </a:r>
            <a:endParaRPr lang="en-US" sz="2500" dirty="0"/>
          </a:p>
        </p:txBody>
      </p:sp>
      <p:sp>
        <p:nvSpPr>
          <p:cNvPr id="29" name="Text 27"/>
          <p:cNvSpPr/>
          <p:nvPr/>
        </p:nvSpPr>
        <p:spPr>
          <a:xfrm>
            <a:off x="6393028" y="4636008"/>
            <a:ext cx="2236394" cy="384048"/>
          </a:xfrm>
          <a:prstGeom prst="rect">
            <a:avLst/>
          </a:prstGeom>
          <a:noFill/>
          <a:ln/>
        </p:spPr>
        <p:txBody>
          <a:bodyPr wrap="square" rtlCol="0" anchor="t"/>
          <a:lstStyle/>
          <a:p>
            <a:pPr marL="0" indent="0">
              <a:buNone/>
            </a:pPr>
            <a:r>
              <a:rPr lang="en-US" sz="1000" dirty="0">
                <a:solidFill>
                  <a:srgbClr val="51617C"/>
                </a:solidFill>
                <a:latin typeface="Arial" pitchFamily="34" charset="0"/>
                <a:ea typeface="Arial" pitchFamily="34" charset="-122"/>
                <a:cs typeface="Arial" pitchFamily="34" charset="-120"/>
              </a:rPr>
              <a:t>Demand at the unit level</a:t>
            </a:r>
            <a:endParaRPr lang="en-US" sz="1000" dirty="0"/>
          </a:p>
        </p:txBody>
      </p:sp>
      <p:sp>
        <p:nvSpPr>
          <p:cNvPr id="31" name="Text 29"/>
          <p:cNvSpPr/>
          <p:nvPr/>
        </p:nvSpPr>
        <p:spPr>
          <a:xfrm>
            <a:off x="6393028" y="3794760"/>
            <a:ext cx="2236394" cy="256032"/>
          </a:xfrm>
          <a:prstGeom prst="rect">
            <a:avLst/>
          </a:prstGeom>
          <a:noFill/>
          <a:ln/>
        </p:spPr>
        <p:txBody>
          <a:bodyPr wrap="square" rtlCol="0" anchor="ctr"/>
          <a:lstStyle/>
          <a:p>
            <a:pPr marL="0" indent="0">
              <a:buNone/>
            </a:pPr>
            <a:endParaRPr lang="en-US" sz="950" dirty="0"/>
          </a:p>
        </p:txBody>
      </p:sp>
      <p:sp>
        <p:nvSpPr>
          <p:cNvPr id="32" name="Text 30"/>
          <p:cNvSpPr/>
          <p:nvPr/>
        </p:nvSpPr>
        <p:spPr>
          <a:xfrm>
            <a:off x="6393028" y="4041648"/>
            <a:ext cx="2236394" cy="548640"/>
          </a:xfrm>
          <a:prstGeom prst="rect">
            <a:avLst/>
          </a:prstGeom>
          <a:noFill/>
          <a:ln/>
        </p:spPr>
        <p:txBody>
          <a:bodyPr wrap="square" rtlCol="0" anchor="t"/>
          <a:lstStyle/>
          <a:p>
            <a:pPr marL="0" indent="0">
              <a:buNone/>
            </a:pPr>
            <a:endParaRPr lang="en-US" sz="2500" dirty="0"/>
          </a:p>
        </p:txBody>
      </p:sp>
      <p:sp>
        <p:nvSpPr>
          <p:cNvPr id="33" name="Text 31"/>
          <p:cNvSpPr/>
          <p:nvPr/>
        </p:nvSpPr>
        <p:spPr>
          <a:xfrm>
            <a:off x="6393028" y="4617720"/>
            <a:ext cx="2236394" cy="384048"/>
          </a:xfrm>
          <a:prstGeom prst="rect">
            <a:avLst/>
          </a:prstGeom>
          <a:noFill/>
          <a:ln/>
        </p:spPr>
        <p:txBody>
          <a:bodyPr wrap="square" rtlCol="0" anchor="t"/>
          <a:lstStyle/>
          <a:p>
            <a:pPr marL="0" indent="0">
              <a:buNone/>
            </a:pPr>
            <a:endParaRPr lang="en-US" sz="1000" dirty="0"/>
          </a:p>
        </p:txBody>
      </p:sp>
      <p:sp>
        <p:nvSpPr>
          <p:cNvPr id="35" name="Text 33"/>
          <p:cNvSpPr/>
          <p:nvPr/>
        </p:nvSpPr>
        <p:spPr>
          <a:xfrm>
            <a:off x="9223781" y="3794760"/>
            <a:ext cx="2236394" cy="256032"/>
          </a:xfrm>
          <a:prstGeom prst="rect">
            <a:avLst/>
          </a:prstGeom>
          <a:noFill/>
          <a:ln/>
        </p:spPr>
        <p:txBody>
          <a:bodyPr wrap="square" rtlCol="0" anchor="ctr"/>
          <a:lstStyle/>
          <a:p>
            <a:pPr marL="0" indent="0">
              <a:buNone/>
            </a:pPr>
            <a:endParaRPr lang="en-US" sz="950" dirty="0"/>
          </a:p>
        </p:txBody>
      </p:sp>
      <p:sp>
        <p:nvSpPr>
          <p:cNvPr id="36" name="Text 34"/>
          <p:cNvSpPr/>
          <p:nvPr/>
        </p:nvSpPr>
        <p:spPr>
          <a:xfrm>
            <a:off x="9223781" y="4041648"/>
            <a:ext cx="2236394" cy="548640"/>
          </a:xfrm>
          <a:prstGeom prst="rect">
            <a:avLst/>
          </a:prstGeom>
          <a:noFill/>
          <a:ln/>
        </p:spPr>
        <p:txBody>
          <a:bodyPr wrap="square" rtlCol="0" anchor="t"/>
          <a:lstStyle/>
          <a:p>
            <a:pPr marL="0" indent="0">
              <a:buNone/>
            </a:pPr>
            <a:endParaRPr lang="en-US" sz="2500" dirty="0"/>
          </a:p>
        </p:txBody>
      </p:sp>
      <p:sp>
        <p:nvSpPr>
          <p:cNvPr id="37" name="Text 35"/>
          <p:cNvSpPr/>
          <p:nvPr/>
        </p:nvSpPr>
        <p:spPr>
          <a:xfrm>
            <a:off x="9223781" y="4617720"/>
            <a:ext cx="2236394" cy="384048"/>
          </a:xfrm>
          <a:prstGeom prst="rect">
            <a:avLst/>
          </a:prstGeom>
          <a:noFill/>
          <a:ln/>
        </p:spPr>
        <p:txBody>
          <a:bodyPr wrap="square" rtlCol="0" anchor="t"/>
          <a:lstStyle/>
          <a:p>
            <a:pPr marL="0" indent="0">
              <a:buNone/>
            </a:pPr>
            <a:endParaRPr lang="en-US" sz="1000" dirty="0"/>
          </a:p>
        </p:txBody>
      </p:sp>
      <p:sp>
        <p:nvSpPr>
          <p:cNvPr id="38" name="Shape 36"/>
          <p:cNvSpPr/>
          <p:nvPr/>
        </p:nvSpPr>
        <p:spPr>
          <a:xfrm>
            <a:off x="548640" y="6473952"/>
            <a:ext cx="146304" cy="146304"/>
          </a:xfrm>
          <a:prstGeom prst="roundRect">
            <a:avLst>
              <a:gd name="adj" fmla="val 21875"/>
            </a:avLst>
          </a:prstGeom>
          <a:solidFill>
            <a:srgbClr val="0B1E3D"/>
          </a:solidFill>
          <a:ln/>
        </p:spPr>
      </p:sp>
      <p:sp>
        <p:nvSpPr>
          <p:cNvPr id="39" name="Shape 37"/>
          <p:cNvSpPr/>
          <p:nvPr/>
        </p:nvSpPr>
        <p:spPr>
          <a:xfrm>
            <a:off x="630936" y="6556248"/>
            <a:ext cx="68580" cy="68580"/>
          </a:xfrm>
          <a:prstGeom prst="ellipse">
            <a:avLst/>
          </a:prstGeom>
          <a:solidFill>
            <a:srgbClr val="C6540E"/>
          </a:solidFill>
          <a:ln/>
        </p:spPr>
      </p:sp>
      <p:sp>
        <p:nvSpPr>
          <p:cNvPr id="40" name="Text 38"/>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41" name="Text 39"/>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11 / 15</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12</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KEY BUSINESS INSIGHTS</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What the Dashboard Surfaces</a:t>
            </a:r>
            <a:endParaRPr lang="en-US" sz="3200" dirty="0"/>
          </a:p>
        </p:txBody>
      </p:sp>
      <p:sp>
        <p:nvSpPr>
          <p:cNvPr id="6" name="Text 4"/>
          <p:cNvSpPr/>
          <p:nvPr/>
        </p:nvSpPr>
        <p:spPr>
          <a:xfrm>
            <a:off x="548640" y="1627632"/>
            <a:ext cx="9997135" cy="457200"/>
          </a:xfrm>
          <a:prstGeom prst="rect">
            <a:avLst/>
          </a:prstGeom>
          <a:noFill/>
          <a:ln/>
        </p:spPr>
        <p:txBody>
          <a:bodyPr wrap="square" rtlCol="0" anchor="t"/>
          <a:lstStyle/>
          <a:p>
            <a:pPr marL="0" indent="0" algn="l">
              <a:buNone/>
            </a:pPr>
            <a:r>
              <a:rPr lang="en-US" sz="1500" dirty="0">
                <a:solidFill>
                  <a:srgbClr val="51617C"/>
                </a:solidFill>
                <a:latin typeface="Arial" pitchFamily="34" charset="0"/>
                <a:ea typeface="Arial" pitchFamily="34" charset="-122"/>
                <a:cs typeface="Arial" pitchFamily="34" charset="-120"/>
              </a:rPr>
              <a:t>Live values fill these in on refresh — shown here as placeholders, not invented figures.</a:t>
            </a:r>
            <a:endParaRPr lang="en-US" sz="1500" dirty="0"/>
          </a:p>
        </p:txBody>
      </p:sp>
      <p:sp>
        <p:nvSpPr>
          <p:cNvPr id="7" name="Shape 5"/>
          <p:cNvSpPr/>
          <p:nvPr/>
        </p:nvSpPr>
        <p:spPr>
          <a:xfrm>
            <a:off x="548640" y="2487168"/>
            <a:ext cx="457200" cy="457200"/>
          </a:xfrm>
          <a:prstGeom prst="roundRect">
            <a:avLst>
              <a:gd name="adj" fmla="val 24000"/>
            </a:avLst>
          </a:prstGeom>
          <a:solidFill>
            <a:srgbClr val="F8EAE2"/>
          </a:solidFill>
          <a:ln/>
        </p:spPr>
      </p:sp>
      <p:pic>
        <p:nvPicPr>
          <p:cNvPr id="8" name="Image 0" descr="/home/claude/pptx_build/icons/globe_accent.png"/>
          <p:cNvPicPr>
            <a:picLocks noChangeAspect="1"/>
          </p:cNvPicPr>
          <p:nvPr/>
        </p:nvPicPr>
        <p:blipFill>
          <a:blip r:embed="rId3"/>
          <a:stretch>
            <a:fillRect/>
          </a:stretch>
        </p:blipFill>
        <p:spPr>
          <a:xfrm>
            <a:off x="640080" y="2578608"/>
            <a:ext cx="274320" cy="274320"/>
          </a:xfrm>
          <a:prstGeom prst="rect">
            <a:avLst/>
          </a:prstGeom>
        </p:spPr>
      </p:pic>
      <p:sp>
        <p:nvSpPr>
          <p:cNvPr id="9" name="Text 6"/>
          <p:cNvSpPr/>
          <p:nvPr/>
        </p:nvSpPr>
        <p:spPr>
          <a:xfrm>
            <a:off x="1207008" y="2331720"/>
            <a:ext cx="10271455" cy="768096"/>
          </a:xfrm>
          <a:prstGeom prst="rect">
            <a:avLst/>
          </a:prstGeom>
          <a:noFill/>
          <a:ln/>
        </p:spPr>
        <p:txBody>
          <a:bodyPr wrap="square" rtlCol="0" anchor="ctr"/>
          <a:lstStyle/>
          <a:p>
            <a:r>
              <a:rPr lang="en-US" sz="1600" b="1" dirty="0">
                <a:latin typeface="Arial" panose="020B0604020202020204" pitchFamily="34" charset="0"/>
                <a:cs typeface="Arial" panose="020B0604020202020204" pitchFamily="34" charset="0"/>
              </a:rPr>
              <a:t>Bikes are the highest-performing product category, contributing the largest share of total sales.</a:t>
            </a:r>
          </a:p>
        </p:txBody>
      </p:sp>
      <p:sp>
        <p:nvSpPr>
          <p:cNvPr id="10" name="Shape 7"/>
          <p:cNvSpPr/>
          <p:nvPr/>
        </p:nvSpPr>
        <p:spPr>
          <a:xfrm>
            <a:off x="580812" y="4059936"/>
            <a:ext cx="457200" cy="457200"/>
          </a:xfrm>
          <a:prstGeom prst="roundRect">
            <a:avLst>
              <a:gd name="adj" fmla="val 24000"/>
            </a:avLst>
          </a:prstGeom>
          <a:solidFill>
            <a:srgbClr val="F8EAE2"/>
          </a:solidFill>
          <a:ln/>
        </p:spPr>
      </p:sp>
      <p:pic>
        <p:nvPicPr>
          <p:cNvPr id="11" name="Image 1" descr="/home/claude/pptx_build/icons/box_accent.png"/>
          <p:cNvPicPr>
            <a:picLocks noChangeAspect="1"/>
          </p:cNvPicPr>
          <p:nvPr/>
        </p:nvPicPr>
        <p:blipFill>
          <a:blip r:embed="rId4"/>
          <a:stretch>
            <a:fillRect/>
          </a:stretch>
        </p:blipFill>
        <p:spPr>
          <a:xfrm>
            <a:off x="672252" y="4151376"/>
            <a:ext cx="274320" cy="274320"/>
          </a:xfrm>
          <a:prstGeom prst="rect">
            <a:avLst/>
          </a:prstGeom>
        </p:spPr>
      </p:pic>
      <p:sp>
        <p:nvSpPr>
          <p:cNvPr id="12" name="Text 8"/>
          <p:cNvSpPr/>
          <p:nvPr/>
        </p:nvSpPr>
        <p:spPr>
          <a:xfrm>
            <a:off x="1207008" y="3099816"/>
            <a:ext cx="10271455" cy="768096"/>
          </a:xfrm>
          <a:prstGeom prst="rect">
            <a:avLst/>
          </a:prstGeom>
          <a:noFill/>
          <a:ln/>
        </p:spPr>
        <p:txBody>
          <a:bodyPr wrap="square" rtlCol="0" anchor="ctr"/>
          <a:lstStyle/>
          <a:p>
            <a:r>
              <a:rPr lang="en-US" sz="1600" b="1" dirty="0">
                <a:latin typeface="Arial" panose="020B0604020202020204" pitchFamily="34" charset="0"/>
                <a:cs typeface="Arial" panose="020B0604020202020204" pitchFamily="34" charset="0"/>
              </a:rPr>
              <a:t>The Online sales channel generates significantly higher revenue than the Reseller channel</a:t>
            </a:r>
            <a:endParaRPr lang="en-US" sz="1600" dirty="0">
              <a:latin typeface="Arial" panose="020B0604020202020204" pitchFamily="34" charset="0"/>
              <a:cs typeface="Arial" panose="020B0604020202020204" pitchFamily="34" charset="0"/>
            </a:endParaRPr>
          </a:p>
        </p:txBody>
      </p:sp>
      <p:sp>
        <p:nvSpPr>
          <p:cNvPr id="13" name="Shape 9"/>
          <p:cNvSpPr/>
          <p:nvPr/>
        </p:nvSpPr>
        <p:spPr>
          <a:xfrm>
            <a:off x="548640" y="3269861"/>
            <a:ext cx="457200" cy="457200"/>
          </a:xfrm>
          <a:prstGeom prst="roundRect">
            <a:avLst>
              <a:gd name="adj" fmla="val 24000"/>
            </a:avLst>
          </a:prstGeom>
          <a:solidFill>
            <a:srgbClr val="F8EAE2"/>
          </a:solidFill>
          <a:ln/>
        </p:spPr>
      </p:sp>
      <p:pic>
        <p:nvPicPr>
          <p:cNvPr id="14" name="Image 2" descr="/home/claude/pptx_build/icons/channel_accent.png"/>
          <p:cNvPicPr>
            <a:picLocks noChangeAspect="1"/>
          </p:cNvPicPr>
          <p:nvPr/>
        </p:nvPicPr>
        <p:blipFill>
          <a:blip r:embed="rId5"/>
          <a:stretch>
            <a:fillRect/>
          </a:stretch>
        </p:blipFill>
        <p:spPr>
          <a:xfrm>
            <a:off x="640080" y="3361301"/>
            <a:ext cx="274320" cy="274320"/>
          </a:xfrm>
          <a:prstGeom prst="rect">
            <a:avLst/>
          </a:prstGeom>
        </p:spPr>
      </p:pic>
      <p:sp>
        <p:nvSpPr>
          <p:cNvPr id="15" name="Text 10"/>
          <p:cNvSpPr/>
          <p:nvPr/>
        </p:nvSpPr>
        <p:spPr>
          <a:xfrm>
            <a:off x="1207008" y="3867912"/>
            <a:ext cx="10271455" cy="768096"/>
          </a:xfrm>
          <a:prstGeom prst="rect">
            <a:avLst/>
          </a:prstGeom>
          <a:noFill/>
          <a:ln/>
        </p:spPr>
        <p:txBody>
          <a:bodyPr wrap="square" rtlCol="0" anchor="ctr"/>
          <a:lstStyle/>
          <a:p>
            <a:r>
              <a:rPr lang="en-US" sz="1600" b="1" dirty="0">
                <a:latin typeface="Arial" panose="020B0604020202020204" pitchFamily="34" charset="0"/>
                <a:cs typeface="Arial" panose="020B0604020202020204" pitchFamily="34" charset="0"/>
              </a:rPr>
              <a:t>Sales performance varies across territories, highlighting opportunities to improve results in lower-performing regions.</a:t>
            </a:r>
          </a:p>
        </p:txBody>
      </p:sp>
      <p:sp>
        <p:nvSpPr>
          <p:cNvPr id="16" name="Shape 11"/>
          <p:cNvSpPr/>
          <p:nvPr/>
        </p:nvSpPr>
        <p:spPr>
          <a:xfrm>
            <a:off x="548640" y="4791456"/>
            <a:ext cx="457200" cy="457200"/>
          </a:xfrm>
          <a:prstGeom prst="roundRect">
            <a:avLst>
              <a:gd name="adj" fmla="val 24000"/>
            </a:avLst>
          </a:prstGeom>
          <a:solidFill>
            <a:srgbClr val="F8EAE2"/>
          </a:solidFill>
          <a:ln/>
        </p:spPr>
      </p:sp>
      <p:pic>
        <p:nvPicPr>
          <p:cNvPr id="17" name="Image 3" descr="/home/claude/pptx_build/icons/users_accent.png"/>
          <p:cNvPicPr>
            <a:picLocks noChangeAspect="1"/>
          </p:cNvPicPr>
          <p:nvPr/>
        </p:nvPicPr>
        <p:blipFill>
          <a:blip r:embed="rId6"/>
          <a:stretch>
            <a:fillRect/>
          </a:stretch>
        </p:blipFill>
        <p:spPr>
          <a:xfrm>
            <a:off x="640080" y="4882896"/>
            <a:ext cx="274320" cy="274320"/>
          </a:xfrm>
          <a:prstGeom prst="rect">
            <a:avLst/>
          </a:prstGeom>
        </p:spPr>
      </p:pic>
      <p:sp>
        <p:nvSpPr>
          <p:cNvPr id="18" name="Text 12"/>
          <p:cNvSpPr/>
          <p:nvPr/>
        </p:nvSpPr>
        <p:spPr>
          <a:xfrm>
            <a:off x="1207008" y="4636008"/>
            <a:ext cx="10271455" cy="768096"/>
          </a:xfrm>
          <a:prstGeom prst="rect">
            <a:avLst/>
          </a:prstGeom>
          <a:noFill/>
          <a:ln/>
        </p:spPr>
        <p:txBody>
          <a:bodyPr wrap="square" rtlCol="0" anchor="ctr"/>
          <a:lstStyle/>
          <a:p>
            <a:r>
              <a:rPr lang="en-US" sz="1600" b="1" dirty="0">
                <a:latin typeface="Arial" panose="020B0604020202020204" pitchFamily="34" charset="0"/>
                <a:cs typeface="Arial" panose="020B0604020202020204" pitchFamily="34" charset="0"/>
              </a:rPr>
              <a:t>Total sales reached approximately 110M, generated from over 31K orders and 275K units sold.</a:t>
            </a:r>
          </a:p>
        </p:txBody>
      </p:sp>
      <p:sp>
        <p:nvSpPr>
          <p:cNvPr id="21" name="Text 14"/>
          <p:cNvSpPr/>
          <p:nvPr/>
        </p:nvSpPr>
        <p:spPr>
          <a:xfrm>
            <a:off x="1207008" y="5404104"/>
            <a:ext cx="10271455" cy="768096"/>
          </a:xfrm>
          <a:prstGeom prst="rect">
            <a:avLst/>
          </a:prstGeom>
          <a:noFill/>
          <a:ln/>
        </p:spPr>
        <p:txBody>
          <a:bodyPr wrap="square" rtlCol="0" anchor="ctr"/>
          <a:lstStyle/>
          <a:p>
            <a:pPr marL="0" indent="0" algn="l">
              <a:buNone/>
            </a:pPr>
            <a:endParaRPr lang="en-US" sz="1600" dirty="0"/>
          </a:p>
        </p:txBody>
      </p:sp>
      <p:sp>
        <p:nvSpPr>
          <p:cNvPr id="22" name="Shape 15"/>
          <p:cNvSpPr/>
          <p:nvPr/>
        </p:nvSpPr>
        <p:spPr>
          <a:xfrm>
            <a:off x="548640" y="6473952"/>
            <a:ext cx="146304" cy="146304"/>
          </a:xfrm>
          <a:prstGeom prst="roundRect">
            <a:avLst>
              <a:gd name="adj" fmla="val 21875"/>
            </a:avLst>
          </a:prstGeom>
          <a:solidFill>
            <a:srgbClr val="0B1E3D"/>
          </a:solidFill>
          <a:ln/>
        </p:spPr>
      </p:sp>
      <p:sp>
        <p:nvSpPr>
          <p:cNvPr id="23" name="Shape 16"/>
          <p:cNvSpPr/>
          <p:nvPr/>
        </p:nvSpPr>
        <p:spPr>
          <a:xfrm>
            <a:off x="630936" y="6556248"/>
            <a:ext cx="68580" cy="68580"/>
          </a:xfrm>
          <a:prstGeom prst="ellipse">
            <a:avLst/>
          </a:prstGeom>
          <a:solidFill>
            <a:srgbClr val="C6540E"/>
          </a:solidFill>
          <a:ln/>
        </p:spPr>
      </p:sp>
      <p:sp>
        <p:nvSpPr>
          <p:cNvPr id="24" name="Text 17"/>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25" name="Text 18"/>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12 / 15</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13</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CHALLENGES &amp; SOLUTIONS</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What Got in the Way, and How We Solved It</a:t>
            </a:r>
            <a:endParaRPr lang="en-US" sz="3200" dirty="0"/>
          </a:p>
        </p:txBody>
      </p:sp>
      <p:sp>
        <p:nvSpPr>
          <p:cNvPr id="6" name="Shape 4"/>
          <p:cNvSpPr/>
          <p:nvPr/>
        </p:nvSpPr>
        <p:spPr>
          <a:xfrm>
            <a:off x="548640" y="2148840"/>
            <a:ext cx="11094415" cy="640080"/>
          </a:xfrm>
          <a:prstGeom prst="roundRect">
            <a:avLst>
              <a:gd name="adj" fmla="val 10000"/>
            </a:avLst>
          </a:prstGeom>
          <a:solidFill>
            <a:srgbClr val="F5F7FB"/>
          </a:solidFill>
          <a:ln w="12700">
            <a:solidFill>
              <a:srgbClr val="E1E6EF"/>
            </a:solidFill>
            <a:prstDash val="solid"/>
          </a:ln>
        </p:spPr>
      </p:sp>
      <p:sp>
        <p:nvSpPr>
          <p:cNvPr id="7" name="Shape 5"/>
          <p:cNvSpPr/>
          <p:nvPr/>
        </p:nvSpPr>
        <p:spPr>
          <a:xfrm>
            <a:off x="713232" y="2304288"/>
            <a:ext cx="329184" cy="329184"/>
          </a:xfrm>
          <a:prstGeom prst="roundRect">
            <a:avLst>
              <a:gd name="adj" fmla="val 25000"/>
            </a:avLst>
          </a:prstGeom>
          <a:solidFill>
            <a:srgbClr val="F8EAE2"/>
          </a:solidFill>
          <a:ln/>
        </p:spPr>
      </p:sp>
      <p:pic>
        <p:nvPicPr>
          <p:cNvPr id="8" name="Image 0" descr="/home/claude/pptx_build/icons/alert_accent.png"/>
          <p:cNvPicPr>
            <a:picLocks noChangeAspect="1"/>
          </p:cNvPicPr>
          <p:nvPr/>
        </p:nvPicPr>
        <p:blipFill>
          <a:blip r:embed="rId3"/>
          <a:stretch>
            <a:fillRect/>
          </a:stretch>
        </p:blipFill>
        <p:spPr>
          <a:xfrm>
            <a:off x="777240" y="2368296"/>
            <a:ext cx="201168" cy="201168"/>
          </a:xfrm>
          <a:prstGeom prst="rect">
            <a:avLst/>
          </a:prstGeom>
        </p:spPr>
      </p:pic>
      <p:sp>
        <p:nvSpPr>
          <p:cNvPr id="9" name="Text 6"/>
          <p:cNvSpPr/>
          <p:nvPr/>
        </p:nvSpPr>
        <p:spPr>
          <a:xfrm>
            <a:off x="1152144" y="2148840"/>
            <a:ext cx="4389120" cy="640080"/>
          </a:xfrm>
          <a:prstGeom prst="rect">
            <a:avLst/>
          </a:prstGeom>
          <a:noFill/>
          <a:ln/>
        </p:spPr>
        <p:txBody>
          <a:bodyPr wrap="square" rtlCol="0" anchor="ctr"/>
          <a:lstStyle/>
          <a:p>
            <a:pPr marL="0" indent="0">
              <a:buNone/>
            </a:pPr>
            <a:r>
              <a:rPr lang="en-US" sz="1250" b="1" dirty="0">
                <a:solidFill>
                  <a:srgbClr val="0B1E3D"/>
                </a:solidFill>
                <a:latin typeface="Arial" pitchFamily="34" charset="0"/>
                <a:ea typeface="Arial" pitchFamily="34" charset="-122"/>
                <a:cs typeface="Arial" pitchFamily="34" charset="-120"/>
              </a:rPr>
              <a:t>Large, fully normalized source schema</a:t>
            </a:r>
            <a:endParaRPr lang="en-US" sz="1250" dirty="0"/>
          </a:p>
        </p:txBody>
      </p:sp>
      <p:pic>
        <p:nvPicPr>
          <p:cNvPr id="10" name="Image 1" descr="/home/claude/pptx_build/icons/arrow_accent.png"/>
          <p:cNvPicPr>
            <a:picLocks noChangeAspect="1"/>
          </p:cNvPicPr>
          <p:nvPr/>
        </p:nvPicPr>
        <p:blipFill>
          <a:blip r:embed="rId4"/>
          <a:stretch>
            <a:fillRect/>
          </a:stretch>
        </p:blipFill>
        <p:spPr>
          <a:xfrm>
            <a:off x="5728716" y="2368296"/>
            <a:ext cx="201168" cy="201168"/>
          </a:xfrm>
          <a:prstGeom prst="rect">
            <a:avLst/>
          </a:prstGeom>
        </p:spPr>
      </p:pic>
      <p:sp>
        <p:nvSpPr>
          <p:cNvPr id="11" name="Shape 7"/>
          <p:cNvSpPr/>
          <p:nvPr/>
        </p:nvSpPr>
        <p:spPr>
          <a:xfrm>
            <a:off x="6099048" y="2304288"/>
            <a:ext cx="329184" cy="329184"/>
          </a:xfrm>
          <a:prstGeom prst="roundRect">
            <a:avLst>
              <a:gd name="adj" fmla="val 25000"/>
            </a:avLst>
          </a:prstGeom>
          <a:solidFill>
            <a:srgbClr val="E7EAF1"/>
          </a:solidFill>
          <a:ln/>
        </p:spPr>
      </p:sp>
      <p:pic>
        <p:nvPicPr>
          <p:cNvPr id="12" name="Image 2" descr="/home/claude/pptx_build/icons/check_navy.png"/>
          <p:cNvPicPr>
            <a:picLocks noChangeAspect="1"/>
          </p:cNvPicPr>
          <p:nvPr/>
        </p:nvPicPr>
        <p:blipFill>
          <a:blip r:embed="rId5"/>
          <a:stretch>
            <a:fillRect/>
          </a:stretch>
        </p:blipFill>
        <p:spPr>
          <a:xfrm>
            <a:off x="6163056" y="2368296"/>
            <a:ext cx="201168" cy="201168"/>
          </a:xfrm>
          <a:prstGeom prst="rect">
            <a:avLst/>
          </a:prstGeom>
        </p:spPr>
      </p:pic>
      <p:sp>
        <p:nvSpPr>
          <p:cNvPr id="13" name="Text 8"/>
          <p:cNvSpPr/>
          <p:nvPr/>
        </p:nvSpPr>
        <p:spPr>
          <a:xfrm>
            <a:off x="6537960" y="2148840"/>
            <a:ext cx="5059375" cy="640080"/>
          </a:xfrm>
          <a:prstGeom prst="rect">
            <a:avLst/>
          </a:prstGeom>
          <a:noFill/>
          <a:ln/>
        </p:spPr>
        <p:txBody>
          <a:bodyPr wrap="square" rtlCol="0" anchor="ctr"/>
          <a:lstStyle/>
          <a:p>
            <a:pPr marL="0" indent="0">
              <a:buNone/>
            </a:pPr>
            <a:r>
              <a:rPr lang="en-US" sz="1250" b="1" dirty="0">
                <a:solidFill>
                  <a:srgbClr val="0B1E3D"/>
                </a:solidFill>
                <a:latin typeface="Arial" pitchFamily="34" charset="0"/>
                <a:ea typeface="Arial" pitchFamily="34" charset="-122"/>
                <a:cs typeface="Arial" pitchFamily="34" charset="-120"/>
              </a:rPr>
              <a:t>Scoped to only tables sales analysis needs</a:t>
            </a:r>
            <a:endParaRPr lang="en-US" sz="1250" dirty="0"/>
          </a:p>
        </p:txBody>
      </p:sp>
      <p:sp>
        <p:nvSpPr>
          <p:cNvPr id="14" name="Shape 9"/>
          <p:cNvSpPr/>
          <p:nvPr/>
        </p:nvSpPr>
        <p:spPr>
          <a:xfrm>
            <a:off x="548640" y="2926080"/>
            <a:ext cx="11094415" cy="640080"/>
          </a:xfrm>
          <a:prstGeom prst="roundRect">
            <a:avLst>
              <a:gd name="adj" fmla="val 10000"/>
            </a:avLst>
          </a:prstGeom>
          <a:solidFill>
            <a:srgbClr val="F5F7FB"/>
          </a:solidFill>
          <a:ln w="12700">
            <a:solidFill>
              <a:srgbClr val="E1E6EF"/>
            </a:solidFill>
            <a:prstDash val="solid"/>
          </a:ln>
        </p:spPr>
      </p:sp>
      <p:sp>
        <p:nvSpPr>
          <p:cNvPr id="15" name="Shape 10"/>
          <p:cNvSpPr/>
          <p:nvPr/>
        </p:nvSpPr>
        <p:spPr>
          <a:xfrm>
            <a:off x="713232" y="3081528"/>
            <a:ext cx="329184" cy="329184"/>
          </a:xfrm>
          <a:prstGeom prst="roundRect">
            <a:avLst>
              <a:gd name="adj" fmla="val 25000"/>
            </a:avLst>
          </a:prstGeom>
          <a:solidFill>
            <a:srgbClr val="F8EAE2"/>
          </a:solidFill>
          <a:ln/>
        </p:spPr>
      </p:sp>
      <p:pic>
        <p:nvPicPr>
          <p:cNvPr id="16" name="Image 3" descr="/home/claude/pptx_build/icons/alert_accent.png"/>
          <p:cNvPicPr>
            <a:picLocks noChangeAspect="1"/>
          </p:cNvPicPr>
          <p:nvPr/>
        </p:nvPicPr>
        <p:blipFill>
          <a:blip r:embed="rId3"/>
          <a:stretch>
            <a:fillRect/>
          </a:stretch>
        </p:blipFill>
        <p:spPr>
          <a:xfrm>
            <a:off x="777240" y="3145536"/>
            <a:ext cx="201168" cy="201168"/>
          </a:xfrm>
          <a:prstGeom prst="rect">
            <a:avLst/>
          </a:prstGeom>
        </p:spPr>
      </p:pic>
      <p:sp>
        <p:nvSpPr>
          <p:cNvPr id="17" name="Text 11"/>
          <p:cNvSpPr/>
          <p:nvPr/>
        </p:nvSpPr>
        <p:spPr>
          <a:xfrm>
            <a:off x="1152144" y="2926080"/>
            <a:ext cx="4389120" cy="640080"/>
          </a:xfrm>
          <a:prstGeom prst="rect">
            <a:avLst/>
          </a:prstGeom>
          <a:noFill/>
          <a:ln/>
        </p:spPr>
        <p:txBody>
          <a:bodyPr wrap="square" rtlCol="0" anchor="ctr"/>
          <a:lstStyle/>
          <a:p>
            <a:pPr marL="0" indent="0">
              <a:buNone/>
            </a:pPr>
            <a:r>
              <a:rPr lang="en-US" sz="1250" b="1" dirty="0">
                <a:solidFill>
                  <a:srgbClr val="0B1E3D"/>
                </a:solidFill>
                <a:latin typeface="Arial" pitchFamily="34" charset="0"/>
                <a:ea typeface="Arial" pitchFamily="34" charset="-122"/>
                <a:cs typeface="Arial" pitchFamily="34" charset="-120"/>
              </a:rPr>
              <a:t>No existing medallion architecture</a:t>
            </a:r>
            <a:endParaRPr lang="en-US" sz="1250" dirty="0"/>
          </a:p>
        </p:txBody>
      </p:sp>
      <p:pic>
        <p:nvPicPr>
          <p:cNvPr id="18" name="Image 4" descr="/home/claude/pptx_build/icons/arrow_accent.png"/>
          <p:cNvPicPr>
            <a:picLocks noChangeAspect="1"/>
          </p:cNvPicPr>
          <p:nvPr/>
        </p:nvPicPr>
        <p:blipFill>
          <a:blip r:embed="rId4"/>
          <a:stretch>
            <a:fillRect/>
          </a:stretch>
        </p:blipFill>
        <p:spPr>
          <a:xfrm>
            <a:off x="5728716" y="3145536"/>
            <a:ext cx="201168" cy="201168"/>
          </a:xfrm>
          <a:prstGeom prst="rect">
            <a:avLst/>
          </a:prstGeom>
        </p:spPr>
      </p:pic>
      <p:sp>
        <p:nvSpPr>
          <p:cNvPr id="19" name="Shape 12"/>
          <p:cNvSpPr/>
          <p:nvPr/>
        </p:nvSpPr>
        <p:spPr>
          <a:xfrm>
            <a:off x="6099048" y="3081528"/>
            <a:ext cx="329184" cy="329184"/>
          </a:xfrm>
          <a:prstGeom prst="roundRect">
            <a:avLst>
              <a:gd name="adj" fmla="val 25000"/>
            </a:avLst>
          </a:prstGeom>
          <a:solidFill>
            <a:srgbClr val="E7EAF1"/>
          </a:solidFill>
          <a:ln/>
        </p:spPr>
      </p:sp>
      <p:pic>
        <p:nvPicPr>
          <p:cNvPr id="20" name="Image 5" descr="/home/claude/pptx_build/icons/check_navy.png"/>
          <p:cNvPicPr>
            <a:picLocks noChangeAspect="1"/>
          </p:cNvPicPr>
          <p:nvPr/>
        </p:nvPicPr>
        <p:blipFill>
          <a:blip r:embed="rId5"/>
          <a:stretch>
            <a:fillRect/>
          </a:stretch>
        </p:blipFill>
        <p:spPr>
          <a:xfrm>
            <a:off x="6163056" y="3145536"/>
            <a:ext cx="201168" cy="201168"/>
          </a:xfrm>
          <a:prstGeom prst="rect">
            <a:avLst/>
          </a:prstGeom>
        </p:spPr>
      </p:pic>
      <p:sp>
        <p:nvSpPr>
          <p:cNvPr id="21" name="Text 13"/>
          <p:cNvSpPr/>
          <p:nvPr/>
        </p:nvSpPr>
        <p:spPr>
          <a:xfrm>
            <a:off x="6537960" y="2926080"/>
            <a:ext cx="5059375" cy="640080"/>
          </a:xfrm>
          <a:prstGeom prst="rect">
            <a:avLst/>
          </a:prstGeom>
          <a:noFill/>
          <a:ln/>
        </p:spPr>
        <p:txBody>
          <a:bodyPr wrap="square" rtlCol="0" anchor="ctr"/>
          <a:lstStyle/>
          <a:p>
            <a:pPr marL="0" indent="0">
              <a:buNone/>
            </a:pPr>
            <a:r>
              <a:rPr lang="en-US" sz="1250" b="1" dirty="0">
                <a:solidFill>
                  <a:srgbClr val="0B1E3D"/>
                </a:solidFill>
                <a:latin typeface="Arial" pitchFamily="34" charset="0"/>
                <a:ea typeface="Arial" pitchFamily="34" charset="-122"/>
                <a:cs typeface="Arial" pitchFamily="34" charset="-120"/>
              </a:rPr>
              <a:t>Built bronze/silver/gold layers from scratch</a:t>
            </a:r>
            <a:endParaRPr lang="en-US" sz="1250" dirty="0"/>
          </a:p>
        </p:txBody>
      </p:sp>
      <p:sp>
        <p:nvSpPr>
          <p:cNvPr id="22" name="Shape 14"/>
          <p:cNvSpPr/>
          <p:nvPr/>
        </p:nvSpPr>
        <p:spPr>
          <a:xfrm>
            <a:off x="548640" y="3703320"/>
            <a:ext cx="11094415" cy="640080"/>
          </a:xfrm>
          <a:prstGeom prst="roundRect">
            <a:avLst>
              <a:gd name="adj" fmla="val 10000"/>
            </a:avLst>
          </a:prstGeom>
          <a:solidFill>
            <a:srgbClr val="F5F7FB"/>
          </a:solidFill>
          <a:ln w="12700">
            <a:solidFill>
              <a:srgbClr val="E1E6EF"/>
            </a:solidFill>
            <a:prstDash val="solid"/>
          </a:ln>
        </p:spPr>
      </p:sp>
      <p:sp>
        <p:nvSpPr>
          <p:cNvPr id="23" name="Shape 15"/>
          <p:cNvSpPr/>
          <p:nvPr/>
        </p:nvSpPr>
        <p:spPr>
          <a:xfrm>
            <a:off x="713232" y="3858768"/>
            <a:ext cx="329184" cy="329184"/>
          </a:xfrm>
          <a:prstGeom prst="roundRect">
            <a:avLst>
              <a:gd name="adj" fmla="val 25000"/>
            </a:avLst>
          </a:prstGeom>
          <a:solidFill>
            <a:srgbClr val="F8EAE2"/>
          </a:solidFill>
          <a:ln/>
        </p:spPr>
      </p:sp>
      <p:pic>
        <p:nvPicPr>
          <p:cNvPr id="24" name="Image 6" descr="/home/claude/pptx_build/icons/alert_accent.png"/>
          <p:cNvPicPr>
            <a:picLocks noChangeAspect="1"/>
          </p:cNvPicPr>
          <p:nvPr/>
        </p:nvPicPr>
        <p:blipFill>
          <a:blip r:embed="rId3"/>
          <a:stretch>
            <a:fillRect/>
          </a:stretch>
        </p:blipFill>
        <p:spPr>
          <a:xfrm>
            <a:off x="777240" y="3922776"/>
            <a:ext cx="201168" cy="201168"/>
          </a:xfrm>
          <a:prstGeom prst="rect">
            <a:avLst/>
          </a:prstGeom>
        </p:spPr>
      </p:pic>
      <p:sp>
        <p:nvSpPr>
          <p:cNvPr id="25" name="Text 16"/>
          <p:cNvSpPr/>
          <p:nvPr/>
        </p:nvSpPr>
        <p:spPr>
          <a:xfrm>
            <a:off x="1152144" y="3703320"/>
            <a:ext cx="4389120" cy="640080"/>
          </a:xfrm>
          <a:prstGeom prst="rect">
            <a:avLst/>
          </a:prstGeom>
          <a:noFill/>
          <a:ln/>
        </p:spPr>
        <p:txBody>
          <a:bodyPr wrap="square" rtlCol="0" anchor="ctr"/>
          <a:lstStyle/>
          <a:p>
            <a:pPr marL="0" indent="0">
              <a:buNone/>
            </a:pPr>
            <a:r>
              <a:rPr lang="en-US" sz="1250" b="1" dirty="0">
                <a:solidFill>
                  <a:srgbClr val="0B1E3D"/>
                </a:solidFill>
                <a:latin typeface="Arial" pitchFamily="34" charset="0"/>
                <a:ea typeface="Arial" pitchFamily="34" charset="-122"/>
                <a:cs typeface="Arial" pitchFamily="34" charset="-120"/>
              </a:rPr>
              <a:t>Missing &amp; inconsistent source values</a:t>
            </a:r>
            <a:endParaRPr lang="en-US" sz="1250" dirty="0"/>
          </a:p>
        </p:txBody>
      </p:sp>
      <p:pic>
        <p:nvPicPr>
          <p:cNvPr id="26" name="Image 7" descr="/home/claude/pptx_build/icons/arrow_accent.png"/>
          <p:cNvPicPr>
            <a:picLocks noChangeAspect="1"/>
          </p:cNvPicPr>
          <p:nvPr/>
        </p:nvPicPr>
        <p:blipFill>
          <a:blip r:embed="rId4"/>
          <a:stretch>
            <a:fillRect/>
          </a:stretch>
        </p:blipFill>
        <p:spPr>
          <a:xfrm>
            <a:off x="5728716" y="3922776"/>
            <a:ext cx="201168" cy="201168"/>
          </a:xfrm>
          <a:prstGeom prst="rect">
            <a:avLst/>
          </a:prstGeom>
        </p:spPr>
      </p:pic>
      <p:sp>
        <p:nvSpPr>
          <p:cNvPr id="27" name="Shape 17"/>
          <p:cNvSpPr/>
          <p:nvPr/>
        </p:nvSpPr>
        <p:spPr>
          <a:xfrm>
            <a:off x="6099048" y="3858768"/>
            <a:ext cx="329184" cy="329184"/>
          </a:xfrm>
          <a:prstGeom prst="roundRect">
            <a:avLst>
              <a:gd name="adj" fmla="val 25000"/>
            </a:avLst>
          </a:prstGeom>
          <a:solidFill>
            <a:srgbClr val="E7EAF1"/>
          </a:solidFill>
          <a:ln/>
        </p:spPr>
      </p:sp>
      <p:pic>
        <p:nvPicPr>
          <p:cNvPr id="28" name="Image 8" descr="/home/claude/pptx_build/icons/check_navy.png"/>
          <p:cNvPicPr>
            <a:picLocks noChangeAspect="1"/>
          </p:cNvPicPr>
          <p:nvPr/>
        </p:nvPicPr>
        <p:blipFill>
          <a:blip r:embed="rId5"/>
          <a:stretch>
            <a:fillRect/>
          </a:stretch>
        </p:blipFill>
        <p:spPr>
          <a:xfrm>
            <a:off x="6163056" y="3922776"/>
            <a:ext cx="201168" cy="201168"/>
          </a:xfrm>
          <a:prstGeom prst="rect">
            <a:avLst/>
          </a:prstGeom>
        </p:spPr>
      </p:pic>
      <p:sp>
        <p:nvSpPr>
          <p:cNvPr id="29" name="Text 18"/>
          <p:cNvSpPr/>
          <p:nvPr/>
        </p:nvSpPr>
        <p:spPr>
          <a:xfrm>
            <a:off x="6537960" y="3703320"/>
            <a:ext cx="5059375" cy="640080"/>
          </a:xfrm>
          <a:prstGeom prst="rect">
            <a:avLst/>
          </a:prstGeom>
          <a:noFill/>
          <a:ln/>
        </p:spPr>
        <p:txBody>
          <a:bodyPr wrap="square" rtlCol="0" anchor="ctr"/>
          <a:lstStyle/>
          <a:p>
            <a:pPr marL="0" indent="0">
              <a:buNone/>
            </a:pPr>
            <a:r>
              <a:rPr lang="en-US" sz="1250" b="1" dirty="0">
                <a:solidFill>
                  <a:srgbClr val="0B1E3D"/>
                </a:solidFill>
                <a:latin typeface="Arial" pitchFamily="34" charset="0"/>
                <a:ea typeface="Arial" pitchFamily="34" charset="-122"/>
                <a:cs typeface="Arial" pitchFamily="34" charset="-120"/>
              </a:rPr>
              <a:t>Profiling-driven, documented cleansing rules</a:t>
            </a:r>
            <a:endParaRPr lang="en-US" sz="1250" dirty="0"/>
          </a:p>
        </p:txBody>
      </p:sp>
      <p:sp>
        <p:nvSpPr>
          <p:cNvPr id="30" name="Shape 19"/>
          <p:cNvSpPr/>
          <p:nvPr/>
        </p:nvSpPr>
        <p:spPr>
          <a:xfrm>
            <a:off x="548640" y="4480560"/>
            <a:ext cx="11094415" cy="640080"/>
          </a:xfrm>
          <a:prstGeom prst="roundRect">
            <a:avLst>
              <a:gd name="adj" fmla="val 10000"/>
            </a:avLst>
          </a:prstGeom>
          <a:solidFill>
            <a:srgbClr val="F5F7FB"/>
          </a:solidFill>
          <a:ln w="12700">
            <a:solidFill>
              <a:srgbClr val="E1E6EF"/>
            </a:solidFill>
            <a:prstDash val="solid"/>
          </a:ln>
        </p:spPr>
      </p:sp>
      <p:sp>
        <p:nvSpPr>
          <p:cNvPr id="31" name="Shape 20"/>
          <p:cNvSpPr/>
          <p:nvPr/>
        </p:nvSpPr>
        <p:spPr>
          <a:xfrm>
            <a:off x="713232" y="4636008"/>
            <a:ext cx="329184" cy="329184"/>
          </a:xfrm>
          <a:prstGeom prst="roundRect">
            <a:avLst>
              <a:gd name="adj" fmla="val 25000"/>
            </a:avLst>
          </a:prstGeom>
          <a:solidFill>
            <a:srgbClr val="F8EAE2"/>
          </a:solidFill>
          <a:ln/>
        </p:spPr>
      </p:sp>
      <p:pic>
        <p:nvPicPr>
          <p:cNvPr id="32" name="Image 9" descr="/home/claude/pptx_build/icons/alert_accent.png"/>
          <p:cNvPicPr>
            <a:picLocks noChangeAspect="1"/>
          </p:cNvPicPr>
          <p:nvPr/>
        </p:nvPicPr>
        <p:blipFill>
          <a:blip r:embed="rId3"/>
          <a:stretch>
            <a:fillRect/>
          </a:stretch>
        </p:blipFill>
        <p:spPr>
          <a:xfrm>
            <a:off x="777240" y="4700016"/>
            <a:ext cx="201168" cy="201168"/>
          </a:xfrm>
          <a:prstGeom prst="rect">
            <a:avLst/>
          </a:prstGeom>
        </p:spPr>
      </p:pic>
      <p:sp>
        <p:nvSpPr>
          <p:cNvPr id="33" name="Text 21"/>
          <p:cNvSpPr/>
          <p:nvPr/>
        </p:nvSpPr>
        <p:spPr>
          <a:xfrm>
            <a:off x="1152144" y="4480560"/>
            <a:ext cx="4389120" cy="640080"/>
          </a:xfrm>
          <a:prstGeom prst="rect">
            <a:avLst/>
          </a:prstGeom>
          <a:noFill/>
          <a:ln/>
        </p:spPr>
        <p:txBody>
          <a:bodyPr wrap="square" rtlCol="0" anchor="ctr"/>
          <a:lstStyle/>
          <a:p>
            <a:pPr marL="0" indent="0">
              <a:buNone/>
            </a:pPr>
            <a:r>
              <a:rPr lang="en-US" sz="1250" b="1" dirty="0">
                <a:solidFill>
                  <a:srgbClr val="0B1E3D"/>
                </a:solidFill>
                <a:latin typeface="Arial" pitchFamily="34" charset="0"/>
                <a:ea typeface="Arial" pitchFamily="34" charset="-122"/>
                <a:cs typeface="Arial" pitchFamily="34" charset="-120"/>
              </a:rPr>
              <a:t>Deep, normalized table relationships</a:t>
            </a:r>
            <a:endParaRPr lang="en-US" sz="1250" dirty="0"/>
          </a:p>
        </p:txBody>
      </p:sp>
      <p:pic>
        <p:nvPicPr>
          <p:cNvPr id="34" name="Image 10" descr="/home/claude/pptx_build/icons/arrow_accent.png"/>
          <p:cNvPicPr>
            <a:picLocks noChangeAspect="1"/>
          </p:cNvPicPr>
          <p:nvPr/>
        </p:nvPicPr>
        <p:blipFill>
          <a:blip r:embed="rId4"/>
          <a:stretch>
            <a:fillRect/>
          </a:stretch>
        </p:blipFill>
        <p:spPr>
          <a:xfrm>
            <a:off x="5728716" y="4700016"/>
            <a:ext cx="201168" cy="201168"/>
          </a:xfrm>
          <a:prstGeom prst="rect">
            <a:avLst/>
          </a:prstGeom>
        </p:spPr>
      </p:pic>
      <p:sp>
        <p:nvSpPr>
          <p:cNvPr id="35" name="Shape 22"/>
          <p:cNvSpPr/>
          <p:nvPr/>
        </p:nvSpPr>
        <p:spPr>
          <a:xfrm>
            <a:off x="6099048" y="4636008"/>
            <a:ext cx="329184" cy="329184"/>
          </a:xfrm>
          <a:prstGeom prst="roundRect">
            <a:avLst>
              <a:gd name="adj" fmla="val 25000"/>
            </a:avLst>
          </a:prstGeom>
          <a:solidFill>
            <a:srgbClr val="E7EAF1"/>
          </a:solidFill>
          <a:ln/>
        </p:spPr>
      </p:sp>
      <p:pic>
        <p:nvPicPr>
          <p:cNvPr id="36" name="Image 11" descr="/home/claude/pptx_build/icons/check_navy.png"/>
          <p:cNvPicPr>
            <a:picLocks noChangeAspect="1"/>
          </p:cNvPicPr>
          <p:nvPr/>
        </p:nvPicPr>
        <p:blipFill>
          <a:blip r:embed="rId5"/>
          <a:stretch>
            <a:fillRect/>
          </a:stretch>
        </p:blipFill>
        <p:spPr>
          <a:xfrm>
            <a:off x="6163056" y="4700016"/>
            <a:ext cx="201168" cy="201168"/>
          </a:xfrm>
          <a:prstGeom prst="rect">
            <a:avLst/>
          </a:prstGeom>
        </p:spPr>
      </p:pic>
      <p:sp>
        <p:nvSpPr>
          <p:cNvPr id="37" name="Text 23"/>
          <p:cNvSpPr/>
          <p:nvPr/>
        </p:nvSpPr>
        <p:spPr>
          <a:xfrm>
            <a:off x="6537960" y="4480560"/>
            <a:ext cx="5059375" cy="640080"/>
          </a:xfrm>
          <a:prstGeom prst="rect">
            <a:avLst/>
          </a:prstGeom>
          <a:noFill/>
          <a:ln/>
        </p:spPr>
        <p:txBody>
          <a:bodyPr wrap="square" rtlCol="0" anchor="ctr"/>
          <a:lstStyle/>
          <a:p>
            <a:pPr marL="0" indent="0">
              <a:buNone/>
            </a:pPr>
            <a:r>
              <a:rPr lang="en-US" sz="1250" b="1" dirty="0">
                <a:solidFill>
                  <a:srgbClr val="0B1E3D"/>
                </a:solidFill>
                <a:latin typeface="Arial" pitchFamily="34" charset="0"/>
                <a:ea typeface="Arial" pitchFamily="34" charset="-122"/>
                <a:cs typeface="Arial" pitchFamily="34" charset="-120"/>
              </a:rPr>
              <a:t>Star schema with surrogate keys per dimension</a:t>
            </a:r>
            <a:endParaRPr lang="en-US" sz="1250" dirty="0"/>
          </a:p>
        </p:txBody>
      </p:sp>
      <p:sp>
        <p:nvSpPr>
          <p:cNvPr id="38" name="Shape 24"/>
          <p:cNvSpPr/>
          <p:nvPr/>
        </p:nvSpPr>
        <p:spPr>
          <a:xfrm>
            <a:off x="548640" y="5257800"/>
            <a:ext cx="11094415" cy="640080"/>
          </a:xfrm>
          <a:prstGeom prst="roundRect">
            <a:avLst>
              <a:gd name="adj" fmla="val 10000"/>
            </a:avLst>
          </a:prstGeom>
          <a:solidFill>
            <a:srgbClr val="F5F7FB"/>
          </a:solidFill>
          <a:ln w="12700">
            <a:solidFill>
              <a:srgbClr val="E1E6EF"/>
            </a:solidFill>
            <a:prstDash val="solid"/>
          </a:ln>
        </p:spPr>
      </p:sp>
      <p:sp>
        <p:nvSpPr>
          <p:cNvPr id="39" name="Shape 25"/>
          <p:cNvSpPr/>
          <p:nvPr/>
        </p:nvSpPr>
        <p:spPr>
          <a:xfrm>
            <a:off x="713232" y="5413248"/>
            <a:ext cx="329184" cy="329184"/>
          </a:xfrm>
          <a:prstGeom prst="roundRect">
            <a:avLst>
              <a:gd name="adj" fmla="val 25000"/>
            </a:avLst>
          </a:prstGeom>
          <a:solidFill>
            <a:srgbClr val="F8EAE2"/>
          </a:solidFill>
          <a:ln/>
        </p:spPr>
      </p:sp>
      <p:pic>
        <p:nvPicPr>
          <p:cNvPr id="40" name="Image 12" descr="/home/claude/pptx_build/icons/alert_accent.png"/>
          <p:cNvPicPr>
            <a:picLocks noChangeAspect="1"/>
          </p:cNvPicPr>
          <p:nvPr/>
        </p:nvPicPr>
        <p:blipFill>
          <a:blip r:embed="rId3"/>
          <a:stretch>
            <a:fillRect/>
          </a:stretch>
        </p:blipFill>
        <p:spPr>
          <a:xfrm>
            <a:off x="777240" y="5477256"/>
            <a:ext cx="201168" cy="201168"/>
          </a:xfrm>
          <a:prstGeom prst="rect">
            <a:avLst/>
          </a:prstGeom>
        </p:spPr>
      </p:pic>
      <p:sp>
        <p:nvSpPr>
          <p:cNvPr id="41" name="Text 26"/>
          <p:cNvSpPr/>
          <p:nvPr/>
        </p:nvSpPr>
        <p:spPr>
          <a:xfrm>
            <a:off x="1152144" y="5257800"/>
            <a:ext cx="4389120" cy="640080"/>
          </a:xfrm>
          <a:prstGeom prst="rect">
            <a:avLst/>
          </a:prstGeom>
          <a:noFill/>
          <a:ln/>
        </p:spPr>
        <p:txBody>
          <a:bodyPr wrap="square" rtlCol="0" anchor="ctr"/>
          <a:lstStyle/>
          <a:p>
            <a:pPr marL="0" indent="0">
              <a:buNone/>
            </a:pPr>
            <a:r>
              <a:rPr lang="en-US" sz="1250" b="1" dirty="0">
                <a:solidFill>
                  <a:srgbClr val="0B1E3D"/>
                </a:solidFill>
                <a:latin typeface="Arial" pitchFamily="34" charset="0"/>
                <a:ea typeface="Arial" pitchFamily="34" charset="-122"/>
                <a:cs typeface="Arial" pitchFamily="34" charset="-120"/>
              </a:rPr>
              <a:t>Growth &amp; time-intelligence calculations</a:t>
            </a:r>
            <a:endParaRPr lang="en-US" sz="1250" dirty="0"/>
          </a:p>
        </p:txBody>
      </p:sp>
      <p:pic>
        <p:nvPicPr>
          <p:cNvPr id="42" name="Image 13" descr="/home/claude/pptx_build/icons/arrow_accent.png"/>
          <p:cNvPicPr>
            <a:picLocks noChangeAspect="1"/>
          </p:cNvPicPr>
          <p:nvPr/>
        </p:nvPicPr>
        <p:blipFill>
          <a:blip r:embed="rId4"/>
          <a:stretch>
            <a:fillRect/>
          </a:stretch>
        </p:blipFill>
        <p:spPr>
          <a:xfrm>
            <a:off x="5728716" y="5477256"/>
            <a:ext cx="201168" cy="201168"/>
          </a:xfrm>
          <a:prstGeom prst="rect">
            <a:avLst/>
          </a:prstGeom>
        </p:spPr>
      </p:pic>
      <p:sp>
        <p:nvSpPr>
          <p:cNvPr id="43" name="Shape 27"/>
          <p:cNvSpPr/>
          <p:nvPr/>
        </p:nvSpPr>
        <p:spPr>
          <a:xfrm>
            <a:off x="6099048" y="5413248"/>
            <a:ext cx="329184" cy="329184"/>
          </a:xfrm>
          <a:prstGeom prst="roundRect">
            <a:avLst>
              <a:gd name="adj" fmla="val 25000"/>
            </a:avLst>
          </a:prstGeom>
          <a:solidFill>
            <a:srgbClr val="E7EAF1"/>
          </a:solidFill>
          <a:ln/>
        </p:spPr>
      </p:sp>
      <p:pic>
        <p:nvPicPr>
          <p:cNvPr id="44" name="Image 14" descr="/home/claude/pptx_build/icons/check_navy.png"/>
          <p:cNvPicPr>
            <a:picLocks noChangeAspect="1"/>
          </p:cNvPicPr>
          <p:nvPr/>
        </p:nvPicPr>
        <p:blipFill>
          <a:blip r:embed="rId5"/>
          <a:stretch>
            <a:fillRect/>
          </a:stretch>
        </p:blipFill>
        <p:spPr>
          <a:xfrm>
            <a:off x="6163056" y="5477256"/>
            <a:ext cx="201168" cy="201168"/>
          </a:xfrm>
          <a:prstGeom prst="rect">
            <a:avLst/>
          </a:prstGeom>
        </p:spPr>
      </p:pic>
      <p:sp>
        <p:nvSpPr>
          <p:cNvPr id="45" name="Text 28"/>
          <p:cNvSpPr/>
          <p:nvPr/>
        </p:nvSpPr>
        <p:spPr>
          <a:xfrm>
            <a:off x="6537960" y="5257800"/>
            <a:ext cx="5059375" cy="640080"/>
          </a:xfrm>
          <a:prstGeom prst="rect">
            <a:avLst/>
          </a:prstGeom>
          <a:noFill/>
          <a:ln/>
        </p:spPr>
        <p:txBody>
          <a:bodyPr wrap="square" rtlCol="0" anchor="ctr"/>
          <a:lstStyle/>
          <a:p>
            <a:pPr marL="0" indent="0">
              <a:buNone/>
            </a:pPr>
            <a:r>
              <a:rPr lang="en-US" sz="1250" b="1" dirty="0">
                <a:solidFill>
                  <a:srgbClr val="0B1E3D"/>
                </a:solidFill>
                <a:latin typeface="Arial" pitchFamily="34" charset="0"/>
                <a:ea typeface="Arial" pitchFamily="34" charset="-122"/>
                <a:cs typeface="Arial" pitchFamily="34" charset="-120"/>
              </a:rPr>
              <a:t>Custom DAX on a physical date table</a:t>
            </a:r>
            <a:endParaRPr lang="en-US" sz="1250" dirty="0"/>
          </a:p>
        </p:txBody>
      </p:sp>
      <p:sp>
        <p:nvSpPr>
          <p:cNvPr id="46" name="Shape 29"/>
          <p:cNvSpPr/>
          <p:nvPr/>
        </p:nvSpPr>
        <p:spPr>
          <a:xfrm>
            <a:off x="548640" y="6473952"/>
            <a:ext cx="146304" cy="146304"/>
          </a:xfrm>
          <a:prstGeom prst="roundRect">
            <a:avLst>
              <a:gd name="adj" fmla="val 21875"/>
            </a:avLst>
          </a:prstGeom>
          <a:solidFill>
            <a:srgbClr val="0B1E3D"/>
          </a:solidFill>
          <a:ln/>
        </p:spPr>
      </p:sp>
      <p:sp>
        <p:nvSpPr>
          <p:cNvPr id="47" name="Shape 30"/>
          <p:cNvSpPr/>
          <p:nvPr/>
        </p:nvSpPr>
        <p:spPr>
          <a:xfrm>
            <a:off x="630936" y="6556248"/>
            <a:ext cx="68580" cy="68580"/>
          </a:xfrm>
          <a:prstGeom prst="ellipse">
            <a:avLst/>
          </a:prstGeom>
          <a:solidFill>
            <a:srgbClr val="C6540E"/>
          </a:solidFill>
          <a:ln/>
        </p:spPr>
      </p:sp>
      <p:sp>
        <p:nvSpPr>
          <p:cNvPr id="48" name="Text 31"/>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49" name="Text 32"/>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13 / 15</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365760" cy="365760"/>
          </a:xfrm>
          <a:prstGeom prst="roundRect">
            <a:avLst>
              <a:gd name="adj" fmla="val 20000"/>
            </a:avLst>
          </a:prstGeom>
          <a:solidFill>
            <a:srgbClr val="0B1E3D"/>
          </a:solidFill>
          <a:ln/>
        </p:spPr>
      </p:sp>
      <p:sp>
        <p:nvSpPr>
          <p:cNvPr id="3" name="Text 1"/>
          <p:cNvSpPr/>
          <p:nvPr/>
        </p:nvSpPr>
        <p:spPr>
          <a:xfrm>
            <a:off x="548640" y="3840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14</a:t>
            </a:r>
            <a:endParaRPr lang="en-US" sz="1300" dirty="0"/>
          </a:p>
        </p:txBody>
      </p:sp>
      <p:sp>
        <p:nvSpPr>
          <p:cNvPr id="4" name="Text 2"/>
          <p:cNvSpPr/>
          <p:nvPr/>
        </p:nvSpPr>
        <p:spPr>
          <a:xfrm>
            <a:off x="1051560" y="384048"/>
            <a:ext cx="8229600" cy="365760"/>
          </a:xfrm>
          <a:prstGeom prst="rect">
            <a:avLst/>
          </a:prstGeom>
          <a:noFill/>
          <a:ln/>
        </p:spPr>
        <p:txBody>
          <a:bodyPr wrap="square" rtlCol="0" anchor="ctr"/>
          <a:lstStyle/>
          <a:p>
            <a:pPr marL="0" indent="0" algn="l">
              <a:buNone/>
            </a:pPr>
            <a:r>
              <a:rPr lang="en-US" sz="1200" b="1" kern="0" spc="200" dirty="0">
                <a:solidFill>
                  <a:srgbClr val="C6540E"/>
                </a:solidFill>
                <a:latin typeface="Arial" pitchFamily="34" charset="0"/>
                <a:ea typeface="Arial" pitchFamily="34" charset="-122"/>
                <a:cs typeface="Arial" pitchFamily="34" charset="-120"/>
              </a:rPr>
              <a:t>CONCLUSION</a:t>
            </a:r>
            <a:endParaRPr lang="en-US" sz="1200" dirty="0"/>
          </a:p>
        </p:txBody>
      </p:sp>
      <p:sp>
        <p:nvSpPr>
          <p:cNvPr id="5" name="Text 3"/>
          <p:cNvSpPr/>
          <p:nvPr/>
        </p:nvSpPr>
        <p:spPr>
          <a:xfrm>
            <a:off x="548640" y="841248"/>
            <a:ext cx="11094415" cy="777240"/>
          </a:xfrm>
          <a:prstGeom prst="rect">
            <a:avLst/>
          </a:prstGeom>
          <a:noFill/>
          <a:ln/>
        </p:spPr>
        <p:txBody>
          <a:bodyPr wrap="square" rtlCol="0" anchor="t"/>
          <a:lstStyle/>
          <a:p>
            <a:pPr marL="0" indent="0" algn="l">
              <a:lnSpc>
                <a:spcPct val="106000"/>
              </a:lnSpc>
              <a:buNone/>
            </a:pPr>
            <a:r>
              <a:rPr lang="en-US" sz="3200" b="1" dirty="0">
                <a:solidFill>
                  <a:srgbClr val="0B1E3D"/>
                </a:solidFill>
                <a:latin typeface="Arial" pitchFamily="34" charset="0"/>
                <a:ea typeface="Arial" pitchFamily="34" charset="-122"/>
                <a:cs typeface="Arial" pitchFamily="34" charset="-120"/>
              </a:rPr>
              <a:t>From Raw Data to Trusted, Self-Service Analytics</a:t>
            </a:r>
            <a:endParaRPr lang="en-US" sz="3200" dirty="0"/>
          </a:p>
        </p:txBody>
      </p:sp>
      <p:sp>
        <p:nvSpPr>
          <p:cNvPr id="6" name="Shape 4"/>
          <p:cNvSpPr/>
          <p:nvPr/>
        </p:nvSpPr>
        <p:spPr>
          <a:xfrm>
            <a:off x="548640" y="2148840"/>
            <a:ext cx="3484778" cy="3291840"/>
          </a:xfrm>
          <a:prstGeom prst="roundRect">
            <a:avLst>
              <a:gd name="adj" fmla="val 2500"/>
            </a:avLst>
          </a:prstGeom>
          <a:solidFill>
            <a:srgbClr val="F5F7FB"/>
          </a:solidFill>
          <a:ln w="12700">
            <a:solidFill>
              <a:srgbClr val="E1E6EF"/>
            </a:solidFill>
            <a:prstDash val="solid"/>
          </a:ln>
        </p:spPr>
      </p:sp>
      <p:sp>
        <p:nvSpPr>
          <p:cNvPr id="7" name="Shape 5"/>
          <p:cNvSpPr/>
          <p:nvPr/>
        </p:nvSpPr>
        <p:spPr>
          <a:xfrm>
            <a:off x="804672" y="2423160"/>
            <a:ext cx="566928" cy="566928"/>
          </a:xfrm>
          <a:prstGeom prst="roundRect">
            <a:avLst>
              <a:gd name="adj" fmla="val 22581"/>
            </a:avLst>
          </a:prstGeom>
          <a:solidFill>
            <a:srgbClr val="0B1E3D"/>
          </a:solidFill>
          <a:ln/>
        </p:spPr>
      </p:sp>
      <p:pic>
        <p:nvPicPr>
          <p:cNvPr id="8" name="Image 0" descr="/home/claude/pptx_build/icons/flag_bright.png"/>
          <p:cNvPicPr>
            <a:picLocks noChangeAspect="1"/>
          </p:cNvPicPr>
          <p:nvPr/>
        </p:nvPicPr>
        <p:blipFill>
          <a:blip r:embed="rId3"/>
          <a:stretch>
            <a:fillRect/>
          </a:stretch>
        </p:blipFill>
        <p:spPr>
          <a:xfrm>
            <a:off x="929396" y="2547884"/>
            <a:ext cx="317480" cy="317480"/>
          </a:xfrm>
          <a:prstGeom prst="rect">
            <a:avLst/>
          </a:prstGeom>
        </p:spPr>
      </p:pic>
      <p:sp>
        <p:nvSpPr>
          <p:cNvPr id="9" name="Text 6"/>
          <p:cNvSpPr/>
          <p:nvPr/>
        </p:nvSpPr>
        <p:spPr>
          <a:xfrm>
            <a:off x="804672" y="3191256"/>
            <a:ext cx="2972714" cy="274320"/>
          </a:xfrm>
          <a:prstGeom prst="rect">
            <a:avLst/>
          </a:prstGeom>
          <a:noFill/>
          <a:ln/>
        </p:spPr>
        <p:txBody>
          <a:bodyPr wrap="square" rtlCol="0" anchor="ctr"/>
          <a:lstStyle/>
          <a:p>
            <a:pPr marL="0" indent="0">
              <a:buNone/>
            </a:pPr>
            <a:r>
              <a:rPr lang="en-US" sz="1100" b="1" kern="0" spc="150" dirty="0">
                <a:solidFill>
                  <a:srgbClr val="C6540E"/>
                </a:solidFill>
                <a:latin typeface="Arial" pitchFamily="34" charset="0"/>
                <a:ea typeface="Arial" pitchFamily="34" charset="-122"/>
                <a:cs typeface="Arial" pitchFamily="34" charset="-120"/>
              </a:rPr>
              <a:t>BUSINESS IMPACT</a:t>
            </a:r>
            <a:endParaRPr lang="en-US" sz="1100" dirty="0"/>
          </a:p>
        </p:txBody>
      </p:sp>
      <p:sp>
        <p:nvSpPr>
          <p:cNvPr id="10" name="Text 7"/>
          <p:cNvSpPr/>
          <p:nvPr/>
        </p:nvSpPr>
        <p:spPr>
          <a:xfrm>
            <a:off x="804672" y="3493008"/>
            <a:ext cx="2972714" cy="1719072"/>
          </a:xfrm>
          <a:prstGeom prst="rect">
            <a:avLst/>
          </a:prstGeom>
          <a:noFill/>
          <a:ln/>
        </p:spPr>
        <p:txBody>
          <a:bodyPr wrap="square" rtlCol="0" anchor="t"/>
          <a:lstStyle/>
          <a:p>
            <a:pPr marL="0" indent="0">
              <a:lnSpc>
                <a:spcPct val="115000"/>
              </a:lnSpc>
              <a:buNone/>
            </a:pPr>
            <a:r>
              <a:rPr lang="en-US" sz="1500" b="1" dirty="0">
                <a:solidFill>
                  <a:srgbClr val="0B1E3D"/>
                </a:solidFill>
                <a:latin typeface="Arial" pitchFamily="34" charset="0"/>
                <a:ea typeface="Arial" pitchFamily="34" charset="-122"/>
                <a:cs typeface="Arial" pitchFamily="34" charset="-120"/>
              </a:rPr>
              <a:t>Faster decisions, less manual reporting, sensitive data protected</a:t>
            </a:r>
            <a:endParaRPr lang="en-US" sz="1500" dirty="0"/>
          </a:p>
        </p:txBody>
      </p:sp>
      <p:sp>
        <p:nvSpPr>
          <p:cNvPr id="11" name="Shape 8"/>
          <p:cNvSpPr/>
          <p:nvPr/>
        </p:nvSpPr>
        <p:spPr>
          <a:xfrm>
            <a:off x="4353458" y="2148840"/>
            <a:ext cx="3484778" cy="3291840"/>
          </a:xfrm>
          <a:prstGeom prst="roundRect">
            <a:avLst>
              <a:gd name="adj" fmla="val 2500"/>
            </a:avLst>
          </a:prstGeom>
          <a:solidFill>
            <a:srgbClr val="F5F7FB"/>
          </a:solidFill>
          <a:ln w="12700">
            <a:solidFill>
              <a:srgbClr val="E1E6EF"/>
            </a:solidFill>
            <a:prstDash val="solid"/>
          </a:ln>
        </p:spPr>
      </p:sp>
      <p:sp>
        <p:nvSpPr>
          <p:cNvPr id="12" name="Shape 9"/>
          <p:cNvSpPr/>
          <p:nvPr/>
        </p:nvSpPr>
        <p:spPr>
          <a:xfrm>
            <a:off x="4609490" y="2423160"/>
            <a:ext cx="566928" cy="566928"/>
          </a:xfrm>
          <a:prstGeom prst="roundRect">
            <a:avLst>
              <a:gd name="adj" fmla="val 22581"/>
            </a:avLst>
          </a:prstGeom>
          <a:solidFill>
            <a:srgbClr val="0B1E3D"/>
          </a:solidFill>
          <a:ln/>
        </p:spPr>
      </p:sp>
      <p:pic>
        <p:nvPicPr>
          <p:cNvPr id="13" name="Image 1" descr="/home/claude/pptx_build/icons/star_bright.png"/>
          <p:cNvPicPr>
            <a:picLocks noChangeAspect="1"/>
          </p:cNvPicPr>
          <p:nvPr/>
        </p:nvPicPr>
        <p:blipFill>
          <a:blip r:embed="rId4"/>
          <a:stretch>
            <a:fillRect/>
          </a:stretch>
        </p:blipFill>
        <p:spPr>
          <a:xfrm>
            <a:off x="4734215" y="2547884"/>
            <a:ext cx="317480" cy="317480"/>
          </a:xfrm>
          <a:prstGeom prst="rect">
            <a:avLst/>
          </a:prstGeom>
        </p:spPr>
      </p:pic>
      <p:sp>
        <p:nvSpPr>
          <p:cNvPr id="14" name="Text 10"/>
          <p:cNvSpPr/>
          <p:nvPr/>
        </p:nvSpPr>
        <p:spPr>
          <a:xfrm>
            <a:off x="4609490" y="3191256"/>
            <a:ext cx="2972714" cy="274320"/>
          </a:xfrm>
          <a:prstGeom prst="rect">
            <a:avLst/>
          </a:prstGeom>
          <a:noFill/>
          <a:ln/>
        </p:spPr>
        <p:txBody>
          <a:bodyPr wrap="square" rtlCol="0" anchor="ctr"/>
          <a:lstStyle/>
          <a:p>
            <a:pPr marL="0" indent="0">
              <a:buNone/>
            </a:pPr>
            <a:r>
              <a:rPr lang="en-US" sz="1100" b="1" kern="0" spc="150" dirty="0">
                <a:solidFill>
                  <a:srgbClr val="C6540E"/>
                </a:solidFill>
                <a:latin typeface="Arial" pitchFamily="34" charset="0"/>
                <a:ea typeface="Arial" pitchFamily="34" charset="-122"/>
                <a:cs typeface="Arial" pitchFamily="34" charset="-120"/>
              </a:rPr>
              <a:t>TECHNICAL ACHIEVEMENTS</a:t>
            </a:r>
            <a:endParaRPr lang="en-US" sz="1100" dirty="0"/>
          </a:p>
        </p:txBody>
      </p:sp>
      <p:sp>
        <p:nvSpPr>
          <p:cNvPr id="15" name="Text 11"/>
          <p:cNvSpPr/>
          <p:nvPr/>
        </p:nvSpPr>
        <p:spPr>
          <a:xfrm>
            <a:off x="4609490" y="3493008"/>
            <a:ext cx="2972714" cy="1719072"/>
          </a:xfrm>
          <a:prstGeom prst="rect">
            <a:avLst/>
          </a:prstGeom>
          <a:noFill/>
          <a:ln/>
        </p:spPr>
        <p:txBody>
          <a:bodyPr wrap="square" rtlCol="0" anchor="t"/>
          <a:lstStyle/>
          <a:p>
            <a:pPr marL="0" indent="0">
              <a:lnSpc>
                <a:spcPct val="115000"/>
              </a:lnSpc>
              <a:buNone/>
            </a:pPr>
            <a:r>
              <a:rPr lang="en-US" sz="1500" b="1" dirty="0">
                <a:solidFill>
                  <a:srgbClr val="0B1E3D"/>
                </a:solidFill>
                <a:latin typeface="Arial" pitchFamily="34" charset="0"/>
                <a:ea typeface="Arial" pitchFamily="34" charset="-122"/>
                <a:cs typeface="Arial" pitchFamily="34" charset="-120"/>
              </a:rPr>
              <a:t>Full medallion pipeline, documented profiling, working star-schema Power BI model</a:t>
            </a:r>
            <a:endParaRPr lang="en-US" sz="1500" dirty="0"/>
          </a:p>
        </p:txBody>
      </p:sp>
      <p:sp>
        <p:nvSpPr>
          <p:cNvPr id="16" name="Shape 12"/>
          <p:cNvSpPr/>
          <p:nvPr/>
        </p:nvSpPr>
        <p:spPr>
          <a:xfrm>
            <a:off x="8158277" y="2148840"/>
            <a:ext cx="3484778" cy="3291840"/>
          </a:xfrm>
          <a:prstGeom prst="roundRect">
            <a:avLst>
              <a:gd name="adj" fmla="val 2500"/>
            </a:avLst>
          </a:prstGeom>
          <a:solidFill>
            <a:srgbClr val="F5F7FB"/>
          </a:solidFill>
          <a:ln w="12700">
            <a:solidFill>
              <a:srgbClr val="E1E6EF"/>
            </a:solidFill>
            <a:prstDash val="solid"/>
          </a:ln>
        </p:spPr>
      </p:sp>
      <p:sp>
        <p:nvSpPr>
          <p:cNvPr id="17" name="Shape 13"/>
          <p:cNvSpPr/>
          <p:nvPr/>
        </p:nvSpPr>
        <p:spPr>
          <a:xfrm>
            <a:off x="8414309" y="2423160"/>
            <a:ext cx="566928" cy="566928"/>
          </a:xfrm>
          <a:prstGeom prst="roundRect">
            <a:avLst>
              <a:gd name="adj" fmla="val 22581"/>
            </a:avLst>
          </a:prstGeom>
          <a:solidFill>
            <a:srgbClr val="0B1E3D"/>
          </a:solidFill>
          <a:ln/>
        </p:spPr>
      </p:sp>
      <p:pic>
        <p:nvPicPr>
          <p:cNvPr id="18" name="Image 2" descr="/home/claude/pptx_build/icons/trend_bright.png"/>
          <p:cNvPicPr>
            <a:picLocks noChangeAspect="1"/>
          </p:cNvPicPr>
          <p:nvPr/>
        </p:nvPicPr>
        <p:blipFill>
          <a:blip r:embed="rId5"/>
          <a:stretch>
            <a:fillRect/>
          </a:stretch>
        </p:blipFill>
        <p:spPr>
          <a:xfrm>
            <a:off x="8539033" y="2547884"/>
            <a:ext cx="317480" cy="317480"/>
          </a:xfrm>
          <a:prstGeom prst="rect">
            <a:avLst/>
          </a:prstGeom>
        </p:spPr>
      </p:pic>
      <p:sp>
        <p:nvSpPr>
          <p:cNvPr id="19" name="Text 14"/>
          <p:cNvSpPr/>
          <p:nvPr/>
        </p:nvSpPr>
        <p:spPr>
          <a:xfrm>
            <a:off x="8414309" y="3191256"/>
            <a:ext cx="2972714" cy="274320"/>
          </a:xfrm>
          <a:prstGeom prst="rect">
            <a:avLst/>
          </a:prstGeom>
          <a:noFill/>
          <a:ln/>
        </p:spPr>
        <p:txBody>
          <a:bodyPr wrap="square" rtlCol="0" anchor="ctr"/>
          <a:lstStyle/>
          <a:p>
            <a:pPr marL="0" indent="0">
              <a:buNone/>
            </a:pPr>
            <a:r>
              <a:rPr lang="en-US" sz="1100" b="1" kern="0" spc="150" dirty="0">
                <a:solidFill>
                  <a:srgbClr val="C6540E"/>
                </a:solidFill>
                <a:latin typeface="Arial" pitchFamily="34" charset="0"/>
                <a:ea typeface="Arial" pitchFamily="34" charset="-122"/>
                <a:cs typeface="Arial" pitchFamily="34" charset="-120"/>
              </a:rPr>
              <a:t>FUTURE IMPROVEMENTS</a:t>
            </a:r>
            <a:endParaRPr lang="en-US" sz="1100" dirty="0"/>
          </a:p>
        </p:txBody>
      </p:sp>
      <p:sp>
        <p:nvSpPr>
          <p:cNvPr id="20" name="Text 15"/>
          <p:cNvSpPr/>
          <p:nvPr/>
        </p:nvSpPr>
        <p:spPr>
          <a:xfrm>
            <a:off x="8414309" y="3493008"/>
            <a:ext cx="2972714" cy="1719072"/>
          </a:xfrm>
          <a:prstGeom prst="rect">
            <a:avLst/>
          </a:prstGeom>
          <a:noFill/>
          <a:ln/>
        </p:spPr>
        <p:txBody>
          <a:bodyPr wrap="square" rtlCol="0" anchor="t"/>
          <a:lstStyle/>
          <a:p>
            <a:pPr marL="0" indent="0">
              <a:lnSpc>
                <a:spcPct val="115000"/>
              </a:lnSpc>
              <a:buNone/>
            </a:pPr>
            <a:r>
              <a:rPr lang="en-US" sz="1500" b="1" dirty="0">
                <a:solidFill>
                  <a:srgbClr val="0B1E3D"/>
                </a:solidFill>
                <a:latin typeface="Arial" pitchFamily="34" charset="0"/>
                <a:ea typeface="Arial" pitchFamily="34" charset="-122"/>
                <a:cs typeface="Arial" pitchFamily="34" charset="-120"/>
              </a:rPr>
              <a:t>Incremental loads, row-level security, more KPIs, scheduled refresh</a:t>
            </a:r>
            <a:endParaRPr lang="en-US" sz="1500" dirty="0"/>
          </a:p>
        </p:txBody>
      </p:sp>
      <p:sp>
        <p:nvSpPr>
          <p:cNvPr id="21" name="Shape 16"/>
          <p:cNvSpPr/>
          <p:nvPr/>
        </p:nvSpPr>
        <p:spPr>
          <a:xfrm>
            <a:off x="548640" y="6473952"/>
            <a:ext cx="146304" cy="146304"/>
          </a:xfrm>
          <a:prstGeom prst="roundRect">
            <a:avLst>
              <a:gd name="adj" fmla="val 21875"/>
            </a:avLst>
          </a:prstGeom>
          <a:solidFill>
            <a:srgbClr val="0B1E3D"/>
          </a:solidFill>
          <a:ln/>
        </p:spPr>
      </p:sp>
      <p:sp>
        <p:nvSpPr>
          <p:cNvPr id="22" name="Shape 17"/>
          <p:cNvSpPr/>
          <p:nvPr/>
        </p:nvSpPr>
        <p:spPr>
          <a:xfrm>
            <a:off x="630936" y="6556248"/>
            <a:ext cx="68580" cy="68580"/>
          </a:xfrm>
          <a:prstGeom prst="ellipse">
            <a:avLst/>
          </a:prstGeom>
          <a:solidFill>
            <a:srgbClr val="C6540E"/>
          </a:solidFill>
          <a:ln/>
        </p:spPr>
      </p:sp>
      <p:sp>
        <p:nvSpPr>
          <p:cNvPr id="23" name="Text 18"/>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8695AC"/>
                </a:solidFill>
                <a:latin typeface="Arial" pitchFamily="34" charset="0"/>
                <a:ea typeface="Arial" pitchFamily="34" charset="-122"/>
                <a:cs typeface="Arial" pitchFamily="34" charset="-120"/>
              </a:rPr>
              <a:t>AdventureWorks Analytics  ·  G2</a:t>
            </a:r>
            <a:endParaRPr lang="en-US" sz="1050" dirty="0"/>
          </a:p>
        </p:txBody>
      </p:sp>
      <p:sp>
        <p:nvSpPr>
          <p:cNvPr id="24" name="Text 19"/>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8695AC"/>
                </a:solidFill>
                <a:latin typeface="Arial" pitchFamily="34" charset="0"/>
                <a:ea typeface="Arial" pitchFamily="34" charset="-122"/>
                <a:cs typeface="Arial" pitchFamily="34" charset="-120"/>
              </a:rPr>
              <a:t>14 / 15</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E3D"/>
        </a:solidFill>
        <a:effectLst/>
      </p:bgPr>
    </p:bg>
    <p:spTree>
      <p:nvGrpSpPr>
        <p:cNvPr id="1" name=""/>
        <p:cNvGrpSpPr/>
        <p:nvPr/>
      </p:nvGrpSpPr>
      <p:grpSpPr>
        <a:xfrm>
          <a:off x="0" y="0"/>
          <a:ext cx="0" cy="0"/>
          <a:chOff x="0" y="0"/>
          <a:chExt cx="0" cy="0"/>
        </a:xfrm>
      </p:grpSpPr>
      <p:sp>
        <p:nvSpPr>
          <p:cNvPr id="2" name="Shape 0"/>
          <p:cNvSpPr/>
          <p:nvPr/>
        </p:nvSpPr>
        <p:spPr>
          <a:xfrm>
            <a:off x="5181905" y="1371600"/>
            <a:ext cx="1828800" cy="1828800"/>
          </a:xfrm>
          <a:prstGeom prst="roundRect">
            <a:avLst>
              <a:gd name="adj" fmla="val 20000"/>
            </a:avLst>
          </a:prstGeom>
          <a:solidFill>
            <a:srgbClr val="1B3A6B"/>
          </a:solidFill>
          <a:ln/>
        </p:spPr>
      </p:sp>
      <p:pic>
        <p:nvPicPr>
          <p:cNvPr id="3" name="Image 0" descr="/home/claude/pptx_build/icons/question_bright.png"/>
          <p:cNvPicPr>
            <a:picLocks noChangeAspect="1"/>
          </p:cNvPicPr>
          <p:nvPr/>
        </p:nvPicPr>
        <p:blipFill>
          <a:blip r:embed="rId3"/>
          <a:stretch>
            <a:fillRect/>
          </a:stretch>
        </p:blipFill>
        <p:spPr>
          <a:xfrm>
            <a:off x="5730545" y="1920240"/>
            <a:ext cx="731520" cy="731520"/>
          </a:xfrm>
          <a:prstGeom prst="rect">
            <a:avLst/>
          </a:prstGeom>
        </p:spPr>
      </p:pic>
      <p:sp>
        <p:nvSpPr>
          <p:cNvPr id="4" name="Text 1"/>
          <p:cNvSpPr/>
          <p:nvPr/>
        </p:nvSpPr>
        <p:spPr>
          <a:xfrm>
            <a:off x="0" y="3429000"/>
            <a:ext cx="12191695" cy="91440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Questions?</a:t>
            </a:r>
            <a:endParaRPr lang="en-US" sz="4800" dirty="0"/>
          </a:p>
        </p:txBody>
      </p:sp>
      <p:sp>
        <p:nvSpPr>
          <p:cNvPr id="5" name="Text 2"/>
          <p:cNvSpPr/>
          <p:nvPr/>
        </p:nvSpPr>
        <p:spPr>
          <a:xfrm>
            <a:off x="0" y="4343400"/>
            <a:ext cx="12191695" cy="731520"/>
          </a:xfrm>
          <a:prstGeom prst="rect">
            <a:avLst/>
          </a:prstGeom>
          <a:noFill/>
          <a:ln/>
        </p:spPr>
        <p:txBody>
          <a:bodyPr wrap="square" rtlCol="0" anchor="ctr"/>
          <a:lstStyle/>
          <a:p>
            <a:pPr marL="0" indent="0" algn="ctr">
              <a:lnSpc>
                <a:spcPct val="130000"/>
              </a:lnSpc>
              <a:buNone/>
            </a:pPr>
            <a:r>
              <a:rPr lang="en-US" sz="1600" dirty="0">
                <a:solidFill>
                  <a:srgbClr val="C9D2E0"/>
                </a:solidFill>
                <a:latin typeface="Arial" pitchFamily="34" charset="0"/>
                <a:ea typeface="Arial" pitchFamily="34" charset="-122"/>
                <a:cs typeface="Arial" pitchFamily="34" charset="-120"/>
              </a:rPr>
              <a:t>Thank you — Group 2  ·  Data Analysis Final Project</a:t>
            </a:r>
            <a:endParaRPr lang="en-US" sz="1600" dirty="0"/>
          </a:p>
          <a:p>
            <a:pPr marL="0" indent="0" algn="ctr">
              <a:lnSpc>
                <a:spcPct val="130000"/>
              </a:lnSpc>
              <a:buNone/>
            </a:pPr>
            <a:r>
              <a:rPr lang="en-US" sz="1600" dirty="0">
                <a:solidFill>
                  <a:srgbClr val="C9D2E0"/>
                </a:solidFill>
                <a:latin typeface="Arial" pitchFamily="34" charset="0"/>
                <a:ea typeface="Arial" pitchFamily="34" charset="-122"/>
                <a:cs typeface="Arial" pitchFamily="34" charset="-120"/>
              </a:rPr>
              <a:t>AdventureWorks Manufacturing Sales Analytics</a:t>
            </a:r>
            <a:endParaRPr lang="en-US" sz="1600" dirty="0"/>
          </a:p>
        </p:txBody>
      </p:sp>
      <p:sp>
        <p:nvSpPr>
          <p:cNvPr id="6" name="Shape 3"/>
          <p:cNvSpPr/>
          <p:nvPr/>
        </p:nvSpPr>
        <p:spPr>
          <a:xfrm>
            <a:off x="548640" y="6473952"/>
            <a:ext cx="146304" cy="146304"/>
          </a:xfrm>
          <a:prstGeom prst="roundRect">
            <a:avLst>
              <a:gd name="adj" fmla="val 21875"/>
            </a:avLst>
          </a:prstGeom>
          <a:solidFill>
            <a:srgbClr val="FFFFFF"/>
          </a:solidFill>
          <a:ln/>
        </p:spPr>
      </p:sp>
      <p:sp>
        <p:nvSpPr>
          <p:cNvPr id="7" name="Shape 4"/>
          <p:cNvSpPr/>
          <p:nvPr/>
        </p:nvSpPr>
        <p:spPr>
          <a:xfrm>
            <a:off x="630936" y="6556248"/>
            <a:ext cx="68580" cy="68580"/>
          </a:xfrm>
          <a:prstGeom prst="ellipse">
            <a:avLst/>
          </a:prstGeom>
          <a:solidFill>
            <a:srgbClr val="C6540E"/>
          </a:solidFill>
          <a:ln/>
        </p:spPr>
      </p:sp>
      <p:sp>
        <p:nvSpPr>
          <p:cNvPr id="8" name="Text 5"/>
          <p:cNvSpPr/>
          <p:nvPr/>
        </p:nvSpPr>
        <p:spPr>
          <a:xfrm>
            <a:off x="822960" y="6428232"/>
            <a:ext cx="4114800" cy="256032"/>
          </a:xfrm>
          <a:prstGeom prst="rect">
            <a:avLst/>
          </a:prstGeom>
          <a:noFill/>
          <a:ln/>
        </p:spPr>
        <p:txBody>
          <a:bodyPr wrap="square" rtlCol="0" anchor="ctr"/>
          <a:lstStyle/>
          <a:p>
            <a:pPr marL="0" indent="0" algn="l">
              <a:buNone/>
            </a:pPr>
            <a:r>
              <a:rPr lang="en-US" sz="1050" dirty="0">
                <a:solidFill>
                  <a:srgbClr val="C9D2E0"/>
                </a:solidFill>
                <a:latin typeface="Arial" pitchFamily="34" charset="0"/>
                <a:ea typeface="Arial" pitchFamily="34" charset="-122"/>
                <a:cs typeface="Arial" pitchFamily="34" charset="-120"/>
              </a:rPr>
              <a:t>AdventureWorks Analytics  ·  G2</a:t>
            </a:r>
            <a:endParaRPr lang="en-US" sz="1050" dirty="0"/>
          </a:p>
        </p:txBody>
      </p:sp>
      <p:sp>
        <p:nvSpPr>
          <p:cNvPr id="9" name="Text 6"/>
          <p:cNvSpPr/>
          <p:nvPr/>
        </p:nvSpPr>
        <p:spPr>
          <a:xfrm>
            <a:off x="10454335" y="6428232"/>
            <a:ext cx="1188720" cy="256032"/>
          </a:xfrm>
          <a:prstGeom prst="rect">
            <a:avLst/>
          </a:prstGeom>
          <a:noFill/>
          <a:ln/>
        </p:spPr>
        <p:txBody>
          <a:bodyPr wrap="square" rtlCol="0" anchor="ctr"/>
          <a:lstStyle/>
          <a:p>
            <a:pPr marL="0" indent="0" algn="r">
              <a:buNone/>
            </a:pPr>
            <a:r>
              <a:rPr lang="en-US" sz="1050" dirty="0">
                <a:solidFill>
                  <a:srgbClr val="C9D2E0"/>
                </a:solidFill>
                <a:latin typeface="Arial" pitchFamily="34" charset="0"/>
                <a:ea typeface="Arial" pitchFamily="34" charset="-122"/>
                <a:cs typeface="Arial" pitchFamily="34" charset="-120"/>
              </a:rPr>
              <a:t>15 / 15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2702</Words>
  <Application>Microsoft Office PowerPoint</Application>
  <PresentationFormat>Widescreen</PresentationFormat>
  <Paragraphs>242</Paragraphs>
  <Slides>15</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elham mohammed</cp:lastModifiedBy>
  <cp:revision>2</cp:revision>
  <dcterms:created xsi:type="dcterms:W3CDTF">2026-07-27T05:28:02Z</dcterms:created>
  <dcterms:modified xsi:type="dcterms:W3CDTF">2026-07-27T06:06:22Z</dcterms:modified>
</cp:coreProperties>
</file>